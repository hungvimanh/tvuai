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Montserrat SemiBold"/>
      <p:regular r:id="rId28"/>
      <p:bold r:id="rId29"/>
      <p:italic r:id="rId30"/>
      <p:boldItalic r:id="rId31"/>
    </p:embeddedFont>
    <p:embeddedFont>
      <p:font typeface="Montserrat"/>
      <p:regular r:id="rId32"/>
      <p:bold r:id="rId33"/>
      <p:italic r:id="rId34"/>
      <p:boldItalic r:id="rId35"/>
    </p:embeddedFont>
    <p:embeddedFont>
      <p:font typeface="Nunito Sans Medium"/>
      <p:regular r:id="rId36"/>
      <p:bold r:id="rId37"/>
      <p:italic r:id="rId38"/>
      <p:boldItalic r:id="rId39"/>
    </p:embeddedFont>
    <p:embeddedFont>
      <p:font typeface="Nunito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F8257E-3AFC-4229-A639-6F7574B332A6}">
  <a:tblStyle styleId="{06F8257E-3AFC-4229-A639-6F7574B332A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regular.fntdata"/><Relationship Id="rId20" Type="http://schemas.openxmlformats.org/officeDocument/2006/relationships/slide" Target="slides/slide14.xml"/><Relationship Id="rId42" Type="http://schemas.openxmlformats.org/officeDocument/2006/relationships/font" Target="fonts/NunitoSans-italic.fntdata"/><Relationship Id="rId41" Type="http://schemas.openxmlformats.org/officeDocument/2006/relationships/font" Target="fonts/NunitoSans-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Nunito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MontserratSemiBold-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SemiBold-boldItalic.fntdata"/><Relationship Id="rId30" Type="http://schemas.openxmlformats.org/officeDocument/2006/relationships/font" Target="fonts/MontserratSemiBold-italic.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NunitoSansMedium-bold.fntdata"/><Relationship Id="rId14" Type="http://schemas.openxmlformats.org/officeDocument/2006/relationships/slide" Target="slides/slide8.xml"/><Relationship Id="rId36" Type="http://schemas.openxmlformats.org/officeDocument/2006/relationships/font" Target="fonts/NunitoSansMedium-regular.fntdata"/><Relationship Id="rId17" Type="http://schemas.openxmlformats.org/officeDocument/2006/relationships/slide" Target="slides/slide11.xml"/><Relationship Id="rId39" Type="http://schemas.openxmlformats.org/officeDocument/2006/relationships/font" Target="fonts/NunitoSansMedium-boldItalic.fntdata"/><Relationship Id="rId16" Type="http://schemas.openxmlformats.org/officeDocument/2006/relationships/slide" Target="slides/slide10.xml"/><Relationship Id="rId38" Type="http://schemas.openxmlformats.org/officeDocument/2006/relationships/font" Target="fonts/NunitoSans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50.png"/><Relationship Id="rId5" Type="http://schemas.openxmlformats.org/officeDocument/2006/relationships/image" Target="../media/image2.png"/><Relationship Id="rId6" Type="http://schemas.openxmlformats.org/officeDocument/2006/relationships/image" Target="../media/image22.png"/><Relationship Id="rId7" Type="http://schemas.openxmlformats.org/officeDocument/2006/relationships/image" Target="../media/image10.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 Id="rId10" Type="http://schemas.openxmlformats.org/officeDocument/2006/relationships/image" Target="../media/image12.png"/><Relationship Id="rId9" Type="http://schemas.openxmlformats.org/officeDocument/2006/relationships/image" Target="../media/image15.png"/><Relationship Id="rId5" Type="http://schemas.openxmlformats.org/officeDocument/2006/relationships/image" Target="../media/image4.png"/><Relationship Id="rId6" Type="http://schemas.openxmlformats.org/officeDocument/2006/relationships/image" Target="../media/image41.png"/><Relationship Id="rId7" Type="http://schemas.openxmlformats.org/officeDocument/2006/relationships/image" Target="../media/image27.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4.png"/><Relationship Id="rId13" Type="http://schemas.openxmlformats.org/officeDocument/2006/relationships/image" Target="../media/image25.png"/><Relationship Id="rId12"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6.png"/><Relationship Id="rId9"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29.png"/><Relationship Id="rId7"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29.png"/><Relationship Id="rId6"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42.png"/><Relationship Id="rId6"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8.png"/><Relationship Id="rId9" Type="http://schemas.openxmlformats.org/officeDocument/2006/relationships/image" Target="../media/image48.png"/><Relationship Id="rId5" Type="http://schemas.openxmlformats.org/officeDocument/2006/relationships/image" Target="../media/image39.png"/><Relationship Id="rId6" Type="http://schemas.openxmlformats.org/officeDocument/2006/relationships/image" Target="../media/image35.png"/><Relationship Id="rId7" Type="http://schemas.openxmlformats.org/officeDocument/2006/relationships/image" Target="../media/image43.png"/><Relationship Id="rId8"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7.png"/><Relationship Id="rId5"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795337" y="1598414"/>
            <a:ext cx="10601325"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1A365D"/>
                </a:solidFill>
                <a:latin typeface="Montserrat"/>
                <a:ea typeface="Montserrat"/>
                <a:cs typeface="Montserrat"/>
                <a:sym typeface="Montserrat"/>
              </a:rPr>
              <a:t>Làm Việc Hiệu Quả Hơn Với AI</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E53E3E"/>
                </a:solidFill>
                <a:latin typeface="Montserrat"/>
                <a:ea typeface="Montserrat"/>
                <a:cs typeface="Montserrat"/>
                <a:sym typeface="Montserrat"/>
              </a:rPr>
              <a:t>Từ Soạn Thảo Đến Tự Động Hóa</a:t>
            </a:r>
            <a:endParaRPr/>
          </a:p>
        </p:txBody>
      </p:sp>
      <p:sp>
        <p:nvSpPr>
          <p:cNvPr id="86" name="Google Shape;86;p13"/>
          <p:cNvSpPr txBox="1"/>
          <p:nvPr/>
        </p:nvSpPr>
        <p:spPr>
          <a:xfrm>
            <a:off x="3810000" y="3251894"/>
            <a:ext cx="4572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A5568"/>
                </a:solidFill>
                <a:latin typeface="Nunito Sans Medium"/>
                <a:ea typeface="Nunito Sans Medium"/>
                <a:cs typeface="Nunito Sans Medium"/>
                <a:sym typeface="Nunito Sans Medium"/>
              </a:rPr>
              <a:t>Buổi tập huấn dành cho Cán bộ &amp; Giảng viên</a:t>
            </a:r>
            <a:br>
              <a:rPr b="0" i="0" lang="en-US" sz="1800" u="none" cap="none" strike="noStrike">
                <a:solidFill>
                  <a:schemeClr val="dk1"/>
                </a:solidFill>
                <a:latin typeface="Calibri"/>
                <a:ea typeface="Calibri"/>
                <a:cs typeface="Calibri"/>
                <a:sym typeface="Calibri"/>
              </a:rPr>
            </a:br>
            <a:r>
              <a:rPr b="0" i="0" lang="en-US" sz="1800" u="none" cap="none" strike="noStrike">
                <a:solidFill>
                  <a:srgbClr val="4A5568"/>
                </a:solidFill>
                <a:latin typeface="Nunito Sans Medium"/>
                <a:ea typeface="Nunito Sans Medium"/>
                <a:cs typeface="Nunito Sans Medium"/>
                <a:sym typeface="Nunito Sans Medium"/>
              </a:rPr>
              <a:t> Trường Đại học Trưng Vương</a:t>
            </a:r>
            <a:endParaRPr/>
          </a:p>
        </p:txBody>
      </p:sp>
      <p:sp>
        <p:nvSpPr>
          <p:cNvPr id="87" name="Google Shape;87;p13"/>
          <p:cNvSpPr txBox="1"/>
          <p:nvPr/>
        </p:nvSpPr>
        <p:spPr>
          <a:xfrm>
            <a:off x="3319462" y="4507110"/>
            <a:ext cx="5553075" cy="609600"/>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None/>
            </a:pPr>
            <a:r>
              <a:rPr b="1" i="0" lang="en-US" sz="1500" u="none" cap="none" strike="noStrike">
                <a:solidFill>
                  <a:srgbClr val="718096"/>
                </a:solidFill>
                <a:latin typeface="Nunito Sans"/>
                <a:ea typeface="Nunito Sans"/>
                <a:cs typeface="Nunito Sans"/>
                <a:sym typeface="Nunito Sans"/>
              </a:rPr>
              <a:t>Thông điệp:</a:t>
            </a:r>
            <a:r>
              <a:rPr b="0" i="0" lang="en-US" sz="1500" u="none" cap="none" strike="noStrike">
                <a:solidFill>
                  <a:srgbClr val="718096"/>
                </a:solidFill>
                <a:latin typeface="Nunito Sans"/>
                <a:ea typeface="Nunito Sans"/>
                <a:cs typeface="Nunito Sans"/>
                <a:sym typeface="Nunito Sans"/>
              </a:rPr>
              <a:t> AI không thay con người làm chuyên môn,</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718096"/>
                </a:solidFill>
                <a:latin typeface="Nunito Sans"/>
                <a:ea typeface="Nunito Sans"/>
                <a:cs typeface="Nunito Sans"/>
                <a:sym typeface="Nunito Sans"/>
              </a:rPr>
              <a:t> nhưng giúp chúng ta làm việc nhanh hơn, rõ hơn, có hệ thống hơn.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6334125" y="2024062"/>
            <a:ext cx="5286375" cy="3810000"/>
          </a:xfrm>
          <a:prstGeom prst="rect">
            <a:avLst/>
          </a:prstGeom>
          <a:noFill/>
          <a:ln>
            <a:noFill/>
          </a:ln>
        </p:spPr>
      </p:pic>
      <p:sp>
        <p:nvSpPr>
          <p:cNvPr id="94" name="Google Shape;94;p14"/>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Mục Tiêu Sau Buổi Tập Huấn</a:t>
            </a:r>
            <a:endParaRPr/>
          </a:p>
        </p:txBody>
      </p:sp>
      <p:sp>
        <p:nvSpPr>
          <p:cNvPr id="95" name="Google Shape;95;p14"/>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571500" y="202406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Khóa học thiết kế theo tiêu chí: </a:t>
            </a:r>
            <a:r>
              <a:rPr b="1" i="0" lang="en-US" sz="1500" u="none" cap="none" strike="noStrike">
                <a:solidFill>
                  <a:srgbClr val="2D3748"/>
                </a:solidFill>
                <a:latin typeface="Nunito Sans"/>
                <a:ea typeface="Nunito Sans"/>
                <a:cs typeface="Nunito Sans"/>
                <a:sym typeface="Nunito Sans"/>
              </a:rPr>
              <a:t>Dễ hiểu – Thực hành ngay – Phù hợp mọi đối tượng</a:t>
            </a:r>
            <a:r>
              <a:rPr b="0" i="0" lang="en-US" sz="1500" u="none" cap="none" strike="noStrike">
                <a:solidFill>
                  <a:srgbClr val="2D3748"/>
                </a:solidFill>
                <a:latin typeface="Nunito Sans"/>
                <a:ea typeface="Nunito Sans"/>
                <a:cs typeface="Nunito Sans"/>
                <a:sym typeface="Nunito Sans"/>
              </a:rPr>
              <a:t>.</a:t>
            </a:r>
            <a:endParaRPr/>
          </a:p>
        </p:txBody>
      </p:sp>
      <p:sp>
        <p:nvSpPr>
          <p:cNvPr id="97" name="Google Shape;97;p14"/>
          <p:cNvSpPr txBox="1"/>
          <p:nvPr/>
        </p:nvSpPr>
        <p:spPr>
          <a:xfrm>
            <a:off x="904875" y="27765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Biết cách "giao việc" (Prompt)</a:t>
            </a:r>
            <a:r>
              <a:rPr b="0" i="0" lang="en-US" sz="1500" u="none" cap="none" strike="noStrike">
                <a:solidFill>
                  <a:srgbClr val="2D3748"/>
                </a:solidFill>
                <a:latin typeface="Nunito Sans"/>
                <a:ea typeface="Nunito Sans"/>
                <a:cs typeface="Nunito Sans"/>
                <a:sym typeface="Nunito Sans"/>
              </a:rPr>
              <a:t> cho AI hiệu quả.</a:t>
            </a:r>
            <a:endParaRPr/>
          </a:p>
        </p:txBody>
      </p:sp>
      <p:sp>
        <p:nvSpPr>
          <p:cNvPr id="98" name="Google Shape;98;p14"/>
          <p:cNvSpPr txBox="1"/>
          <p:nvPr/>
        </p:nvSpPr>
        <p:spPr>
          <a:xfrm>
            <a:off x="904875" y="32718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Kiểm tra &amp; đánh giá</a:t>
            </a:r>
            <a:r>
              <a:rPr b="0" i="0" lang="en-US" sz="1500" u="none" cap="none" strike="noStrike">
                <a:solidFill>
                  <a:srgbClr val="2D3748"/>
                </a:solidFill>
                <a:latin typeface="Nunito Sans"/>
                <a:ea typeface="Nunito Sans"/>
                <a:cs typeface="Nunito Sans"/>
                <a:sym typeface="Nunito Sans"/>
              </a:rPr>
              <a:t> kết quả AI tạo ra.</a:t>
            </a:r>
            <a:endParaRPr/>
          </a:p>
        </p:txBody>
      </p:sp>
      <p:sp>
        <p:nvSpPr>
          <p:cNvPr id="99" name="Google Shape;99;p14"/>
          <p:cNvSpPr txBox="1"/>
          <p:nvPr/>
        </p:nvSpPr>
        <p:spPr>
          <a:xfrm>
            <a:off x="904875" y="3767137"/>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Áp dụng vào công việc thật:</a:t>
            </a:r>
            <a:r>
              <a:rPr b="0" i="0" lang="en-US" sz="1500" u="none" cap="none" strike="noStrike">
                <a:solidFill>
                  <a:srgbClr val="2D3748"/>
                </a:solidFill>
                <a:latin typeface="Nunito Sans"/>
                <a:ea typeface="Nunito Sans"/>
                <a:cs typeface="Nunito Sans"/>
                <a:sym typeface="Nunito Sans"/>
              </a:rPr>
              <a:t> Cán bộ (hành chính, tư vấn) &amp; Giảng viên (soạn bài, ra đề).</a:t>
            </a:r>
            <a:endParaRPr/>
          </a:p>
        </p:txBody>
      </p:sp>
      <p:sp>
        <p:nvSpPr>
          <p:cNvPr id="100" name="Google Shape;100;p14"/>
          <p:cNvSpPr txBox="1"/>
          <p:nvPr/>
        </p:nvSpPr>
        <p:spPr>
          <a:xfrm>
            <a:off x="904875" y="45672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Hiểu khái niệm AI Agent:</a:t>
            </a:r>
            <a:r>
              <a:rPr b="0" i="0" lang="en-US" sz="1500" u="none" cap="none" strike="noStrike">
                <a:solidFill>
                  <a:srgbClr val="2D3748"/>
                </a:solidFill>
                <a:latin typeface="Nunito Sans"/>
                <a:ea typeface="Nunito Sans"/>
                <a:cs typeface="Nunito Sans"/>
                <a:sym typeface="Nunito Sans"/>
              </a:rPr>
              <a:t> Tự động hóa quy trình cá nhân.</a:t>
            </a:r>
            <a:endParaRPr/>
          </a:p>
        </p:txBody>
      </p:sp>
      <p:pic>
        <p:nvPicPr>
          <p:cNvPr descr="image.png" id="101" name="Google Shape;101;p14"/>
          <p:cNvPicPr preferRelativeResize="0"/>
          <p:nvPr/>
        </p:nvPicPr>
        <p:blipFill rotWithShape="1">
          <a:blip r:embed="rId5">
            <a:alphaModFix/>
          </a:blip>
          <a:srcRect b="0" l="0" r="0" t="0"/>
          <a:stretch/>
        </p:blipFill>
        <p:spPr>
          <a:xfrm>
            <a:off x="6334125" y="2024062"/>
            <a:ext cx="5286375" cy="3810000"/>
          </a:xfrm>
          <a:prstGeom prst="rect">
            <a:avLst/>
          </a:prstGeom>
          <a:noFill/>
          <a:ln>
            <a:noFill/>
          </a:ln>
        </p:spPr>
      </p:pic>
      <p:pic>
        <p:nvPicPr>
          <p:cNvPr descr="image.png" id="102" name="Google Shape;102;p14"/>
          <p:cNvPicPr preferRelativeResize="0"/>
          <p:nvPr/>
        </p:nvPicPr>
        <p:blipFill rotWithShape="1">
          <a:blip r:embed="rId6">
            <a:alphaModFix/>
          </a:blip>
          <a:srcRect b="0" l="0" r="0" t="0"/>
          <a:stretch/>
        </p:blipFill>
        <p:spPr>
          <a:xfrm>
            <a:off x="571500" y="2819400"/>
            <a:ext cx="190500" cy="200025"/>
          </a:xfrm>
          <a:prstGeom prst="rect">
            <a:avLst/>
          </a:prstGeom>
          <a:noFill/>
          <a:ln>
            <a:noFill/>
          </a:ln>
        </p:spPr>
      </p:pic>
      <p:pic>
        <p:nvPicPr>
          <p:cNvPr descr="image.png" id="103" name="Google Shape;103;p14"/>
          <p:cNvPicPr preferRelativeResize="0"/>
          <p:nvPr/>
        </p:nvPicPr>
        <p:blipFill rotWithShape="1">
          <a:blip r:embed="rId7">
            <a:alphaModFix/>
          </a:blip>
          <a:srcRect b="0" l="0" r="0" t="0"/>
          <a:stretch/>
        </p:blipFill>
        <p:spPr>
          <a:xfrm>
            <a:off x="571500" y="3314700"/>
            <a:ext cx="171450" cy="200025"/>
          </a:xfrm>
          <a:prstGeom prst="rect">
            <a:avLst/>
          </a:prstGeom>
          <a:noFill/>
          <a:ln>
            <a:noFill/>
          </a:ln>
        </p:spPr>
      </p:pic>
      <p:pic>
        <p:nvPicPr>
          <p:cNvPr descr="image.png" id="104" name="Google Shape;104;p14"/>
          <p:cNvPicPr preferRelativeResize="0"/>
          <p:nvPr/>
        </p:nvPicPr>
        <p:blipFill rotWithShape="1">
          <a:blip r:embed="rId8">
            <a:alphaModFix/>
          </a:blip>
          <a:srcRect b="0" l="0" r="0" t="0"/>
          <a:stretch/>
        </p:blipFill>
        <p:spPr>
          <a:xfrm>
            <a:off x="571500" y="3810000"/>
            <a:ext cx="190500" cy="200025"/>
          </a:xfrm>
          <a:prstGeom prst="rect">
            <a:avLst/>
          </a:prstGeom>
          <a:noFill/>
          <a:ln>
            <a:noFill/>
          </a:ln>
        </p:spPr>
      </p:pic>
      <p:pic>
        <p:nvPicPr>
          <p:cNvPr descr="image.png" id="105" name="Google Shape;105;p14"/>
          <p:cNvPicPr preferRelativeResize="0"/>
          <p:nvPr/>
        </p:nvPicPr>
        <p:blipFill rotWithShape="1">
          <a:blip r:embed="rId9">
            <a:alphaModFix/>
          </a:blip>
          <a:srcRect b="0" l="0" r="0" t="0"/>
          <a:stretch/>
        </p:blipFill>
        <p:spPr>
          <a:xfrm>
            <a:off x="571500" y="4610100"/>
            <a:ext cx="238125"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image.png"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15"/>
          <p:cNvSpPr/>
          <p:nvPr/>
        </p:nvSpPr>
        <p:spPr>
          <a:xfrm>
            <a:off x="5381625" y="2107852"/>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5"/>
          <p:cNvSpPr txBox="1"/>
          <p:nvPr/>
        </p:nvSpPr>
        <p:spPr>
          <a:xfrm>
            <a:off x="295275" y="2431702"/>
            <a:ext cx="11601450" cy="129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7FAFC"/>
                </a:solidFill>
                <a:latin typeface="Montserrat"/>
                <a:ea typeface="Montserrat"/>
                <a:cs typeface="Montserrat"/>
                <a:sym typeface="Montserrat"/>
              </a:rPr>
              <a:t>Phần 1: Trí Tuệ Nhân Tạo Tạo Sinh (Generative AI)</a:t>
            </a:r>
            <a:endParaRPr/>
          </a:p>
        </p:txBody>
      </p:sp>
      <p:sp>
        <p:nvSpPr>
          <p:cNvPr id="113" name="Google Shape;113;p15"/>
          <p:cNvSpPr txBox="1"/>
          <p:nvPr/>
        </p:nvSpPr>
        <p:spPr>
          <a:xfrm>
            <a:off x="571500" y="3917602"/>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a:ea typeface="Nunito Sans"/>
                <a:cs typeface="Nunito Sans"/>
                <a:sym typeface="Nunito Sans"/>
              </a:rPr>
              <a:t>Hiểu cơ bản - Tránh kỹ thuật phức tạp</a:t>
            </a:r>
            <a:endParaRPr/>
          </a:p>
        </p:txBody>
      </p:sp>
      <p:sp>
        <p:nvSpPr>
          <p:cNvPr id="114" name="Google Shape;114;p15"/>
          <p:cNvSpPr/>
          <p:nvPr/>
        </p:nvSpPr>
        <p:spPr>
          <a:xfrm>
            <a:off x="5381625" y="4711898"/>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image.png" id="119" name="Google Shape;11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 name="Google Shape;120;p16"/>
          <p:cNvPicPr preferRelativeResize="0"/>
          <p:nvPr/>
        </p:nvPicPr>
        <p:blipFill rotWithShape="1">
          <a:blip r:embed="rId4">
            <a:alphaModFix/>
          </a:blip>
          <a:srcRect b="0" l="0" r="0" t="0"/>
          <a:stretch/>
        </p:blipFill>
        <p:spPr>
          <a:xfrm>
            <a:off x="571500" y="2290762"/>
            <a:ext cx="5286375" cy="1390650"/>
          </a:xfrm>
          <a:prstGeom prst="rect">
            <a:avLst/>
          </a:prstGeom>
          <a:noFill/>
          <a:ln>
            <a:noFill/>
          </a:ln>
        </p:spPr>
      </p:pic>
      <p:pic>
        <p:nvPicPr>
          <p:cNvPr descr="image.png" id="121" name="Google Shape;121;p16"/>
          <p:cNvPicPr preferRelativeResize="0"/>
          <p:nvPr/>
        </p:nvPicPr>
        <p:blipFill rotWithShape="1">
          <a:blip r:embed="rId5">
            <a:alphaModFix/>
          </a:blip>
          <a:srcRect b="0" l="0" r="0" t="0"/>
          <a:stretch/>
        </p:blipFill>
        <p:spPr>
          <a:xfrm>
            <a:off x="6334125" y="1538287"/>
            <a:ext cx="5286375" cy="3810000"/>
          </a:xfrm>
          <a:prstGeom prst="rect">
            <a:avLst/>
          </a:prstGeom>
          <a:noFill/>
          <a:ln>
            <a:noFill/>
          </a:ln>
        </p:spPr>
      </p:pic>
      <p:sp>
        <p:nvSpPr>
          <p:cNvPr id="122" name="Google Shape;122;p16"/>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Trí Tuệ Nhân Tạo Tạo Sinh Là Gì?</a:t>
            </a:r>
            <a:endParaRPr/>
          </a:p>
        </p:txBody>
      </p:sp>
      <p:sp>
        <p:nvSpPr>
          <p:cNvPr id="123" name="Google Shape;123;p16"/>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6"/>
          <p:cNvSpPr txBox="1"/>
          <p:nvPr/>
        </p:nvSpPr>
        <p:spPr>
          <a:xfrm>
            <a:off x="571500" y="1538287"/>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Hãy tưởng tượng AI như một </a:t>
            </a:r>
            <a:r>
              <a:rPr b="1" i="0" lang="en-US" sz="1500" u="none" cap="none" strike="noStrike">
                <a:solidFill>
                  <a:srgbClr val="2D3748"/>
                </a:solidFill>
                <a:latin typeface="Nunito Sans"/>
                <a:ea typeface="Nunito Sans"/>
                <a:cs typeface="Nunito Sans"/>
                <a:sym typeface="Nunito Sans"/>
              </a:rPr>
              <a:t>"người trợ lý đọc rất nhiều sách, gõ phím rất nhanh"</a:t>
            </a:r>
            <a:r>
              <a:rPr b="0" i="0" lang="en-US" sz="1500" u="none" cap="none" strike="noStrike">
                <a:solidFill>
                  <a:srgbClr val="2D3748"/>
                </a:solidFill>
                <a:latin typeface="Nunito Sans"/>
                <a:ea typeface="Nunito Sans"/>
                <a:cs typeface="Nunito Sans"/>
                <a:sym typeface="Nunito Sans"/>
              </a:rPr>
              <a:t>.</a:t>
            </a:r>
            <a:endParaRPr/>
          </a:p>
        </p:txBody>
      </p:sp>
      <p:sp>
        <p:nvSpPr>
          <p:cNvPr id="125" name="Google Shape;125;p16"/>
          <p:cNvSpPr txBox="1"/>
          <p:nvPr/>
        </p:nvSpPr>
        <p:spPr>
          <a:xfrm>
            <a:off x="571500" y="3871912"/>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2B6CB0"/>
                </a:solidFill>
                <a:latin typeface="Montserrat SemiBold"/>
                <a:ea typeface="Montserrat SemiBold"/>
                <a:cs typeface="Montserrat SemiBold"/>
                <a:sym typeface="Montserrat SemiBold"/>
              </a:rPr>
              <a:t>AI có thể làm gì?</a:t>
            </a:r>
            <a:endParaRPr/>
          </a:p>
        </p:txBody>
      </p:sp>
      <p:sp>
        <p:nvSpPr>
          <p:cNvPr id="126" name="Google Shape;126;p16"/>
          <p:cNvSpPr txBox="1"/>
          <p:nvPr/>
        </p:nvSpPr>
        <p:spPr>
          <a:xfrm>
            <a:off x="857250" y="2528887"/>
            <a:ext cx="47625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Generative AI (AI tạo sinh)</a:t>
            </a:r>
            <a:r>
              <a:rPr b="0" i="0" lang="en-US" sz="1500" u="none" cap="none" strike="noStrike">
                <a:solidFill>
                  <a:srgbClr val="2D3748"/>
                </a:solidFill>
                <a:latin typeface="Nunito Sans"/>
                <a:ea typeface="Nunito Sans"/>
                <a:cs typeface="Nunito Sans"/>
                <a:sym typeface="Nunito Sans"/>
              </a:rPr>
              <a:t> là loại AI có khả năng tạo ra nội dung mới (văn bản, hình ảnh, âm thanh, mã code) dựa trên những gì nó đã học.</a:t>
            </a:r>
            <a:endParaRPr/>
          </a:p>
        </p:txBody>
      </p:sp>
      <p:sp>
        <p:nvSpPr>
          <p:cNvPr id="127" name="Google Shape;127;p16"/>
          <p:cNvSpPr txBox="1"/>
          <p:nvPr/>
        </p:nvSpPr>
        <p:spPr>
          <a:xfrm>
            <a:off x="904875" y="43386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Soạn thảo: Email, thông báo, báo cáo.</a:t>
            </a:r>
            <a:endParaRPr/>
          </a:p>
        </p:txBody>
      </p:sp>
      <p:sp>
        <p:nvSpPr>
          <p:cNvPr id="128" name="Google Shape;128;p16"/>
          <p:cNvSpPr txBox="1"/>
          <p:nvPr/>
        </p:nvSpPr>
        <p:spPr>
          <a:xfrm>
            <a:off x="904875" y="48339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Lên kế hoạch, kịch bản chương trình.</a:t>
            </a:r>
            <a:endParaRPr/>
          </a:p>
        </p:txBody>
      </p:sp>
      <p:sp>
        <p:nvSpPr>
          <p:cNvPr id="129" name="Google Shape;129;p16"/>
          <p:cNvSpPr txBox="1"/>
          <p:nvPr/>
        </p:nvSpPr>
        <p:spPr>
          <a:xfrm>
            <a:off x="904875" y="53292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Tóm tắt tài liệu dài, trích xuất ý chính.</a:t>
            </a:r>
            <a:endParaRPr/>
          </a:p>
        </p:txBody>
      </p:sp>
      <p:sp>
        <p:nvSpPr>
          <p:cNvPr id="130" name="Google Shape;130;p16"/>
          <p:cNvSpPr txBox="1"/>
          <p:nvPr/>
        </p:nvSpPr>
        <p:spPr>
          <a:xfrm>
            <a:off x="904875" y="582453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Dịch thuật, thay đổi văn phong.</a:t>
            </a:r>
            <a:endParaRPr/>
          </a:p>
        </p:txBody>
      </p:sp>
      <p:pic>
        <p:nvPicPr>
          <p:cNvPr descr="image.png" id="131" name="Google Shape;131;p16"/>
          <p:cNvPicPr preferRelativeResize="0"/>
          <p:nvPr/>
        </p:nvPicPr>
        <p:blipFill rotWithShape="1">
          <a:blip r:embed="rId6">
            <a:alphaModFix/>
          </a:blip>
          <a:srcRect b="0" l="0" r="0" t="0"/>
          <a:stretch/>
        </p:blipFill>
        <p:spPr>
          <a:xfrm>
            <a:off x="6334125" y="1538287"/>
            <a:ext cx="5286375" cy="3810000"/>
          </a:xfrm>
          <a:prstGeom prst="rect">
            <a:avLst/>
          </a:prstGeom>
          <a:noFill/>
          <a:ln>
            <a:noFill/>
          </a:ln>
        </p:spPr>
      </p:pic>
      <p:pic>
        <p:nvPicPr>
          <p:cNvPr descr="image.png" id="132" name="Google Shape;132;p16"/>
          <p:cNvPicPr preferRelativeResize="0"/>
          <p:nvPr/>
        </p:nvPicPr>
        <p:blipFill rotWithShape="1">
          <a:blip r:embed="rId7">
            <a:alphaModFix/>
          </a:blip>
          <a:srcRect b="0" l="0" r="0" t="0"/>
          <a:stretch/>
        </p:blipFill>
        <p:spPr>
          <a:xfrm>
            <a:off x="571500" y="4381500"/>
            <a:ext cx="190500" cy="200025"/>
          </a:xfrm>
          <a:prstGeom prst="rect">
            <a:avLst/>
          </a:prstGeom>
          <a:noFill/>
          <a:ln>
            <a:noFill/>
          </a:ln>
        </p:spPr>
      </p:pic>
      <p:pic>
        <p:nvPicPr>
          <p:cNvPr descr="image.png" id="133" name="Google Shape;133;p16"/>
          <p:cNvPicPr preferRelativeResize="0"/>
          <p:nvPr/>
        </p:nvPicPr>
        <p:blipFill rotWithShape="1">
          <a:blip r:embed="rId8">
            <a:alphaModFix/>
          </a:blip>
          <a:srcRect b="0" l="0" r="0" t="0"/>
          <a:stretch/>
        </p:blipFill>
        <p:spPr>
          <a:xfrm>
            <a:off x="571500" y="4876800"/>
            <a:ext cx="190500" cy="200025"/>
          </a:xfrm>
          <a:prstGeom prst="rect">
            <a:avLst/>
          </a:prstGeom>
          <a:noFill/>
          <a:ln>
            <a:noFill/>
          </a:ln>
        </p:spPr>
      </p:pic>
      <p:pic>
        <p:nvPicPr>
          <p:cNvPr descr="image.png" id="134" name="Google Shape;134;p16"/>
          <p:cNvPicPr preferRelativeResize="0"/>
          <p:nvPr/>
        </p:nvPicPr>
        <p:blipFill rotWithShape="1">
          <a:blip r:embed="rId9">
            <a:alphaModFix/>
          </a:blip>
          <a:srcRect b="0" l="0" r="0" t="0"/>
          <a:stretch/>
        </p:blipFill>
        <p:spPr>
          <a:xfrm>
            <a:off x="571500" y="5372100"/>
            <a:ext cx="142875" cy="200025"/>
          </a:xfrm>
          <a:prstGeom prst="rect">
            <a:avLst/>
          </a:prstGeom>
          <a:noFill/>
          <a:ln>
            <a:noFill/>
          </a:ln>
        </p:spPr>
      </p:pic>
      <p:pic>
        <p:nvPicPr>
          <p:cNvPr descr="image.png" id="135" name="Google Shape;135;p16"/>
          <p:cNvPicPr preferRelativeResize="0"/>
          <p:nvPr/>
        </p:nvPicPr>
        <p:blipFill rotWithShape="1">
          <a:blip r:embed="rId10">
            <a:alphaModFix/>
          </a:blip>
          <a:srcRect b="0" l="0" r="0" t="0"/>
          <a:stretch/>
        </p:blipFill>
        <p:spPr>
          <a:xfrm>
            <a:off x="571500" y="5867400"/>
            <a:ext cx="238125"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image.png" id="140" name="Google Shape;14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17"/>
          <p:cNvPicPr preferRelativeResize="0"/>
          <p:nvPr/>
        </p:nvPicPr>
        <p:blipFill rotWithShape="1">
          <a:blip r:embed="rId4">
            <a:alphaModFix/>
          </a:blip>
          <a:srcRect b="0" l="0" r="0" t="0"/>
          <a:stretch/>
        </p:blipFill>
        <p:spPr>
          <a:xfrm>
            <a:off x="571500" y="1614487"/>
            <a:ext cx="3492549" cy="4629150"/>
          </a:xfrm>
          <a:prstGeom prst="rect">
            <a:avLst/>
          </a:prstGeom>
          <a:noFill/>
          <a:ln>
            <a:noFill/>
          </a:ln>
        </p:spPr>
      </p:pic>
      <p:pic>
        <p:nvPicPr>
          <p:cNvPr descr="image.png" id="142" name="Google Shape;142;p17"/>
          <p:cNvPicPr preferRelativeResize="0"/>
          <p:nvPr/>
        </p:nvPicPr>
        <p:blipFill rotWithShape="1">
          <a:blip r:embed="rId5">
            <a:alphaModFix/>
          </a:blip>
          <a:srcRect b="0" l="0" r="0" t="0"/>
          <a:stretch/>
        </p:blipFill>
        <p:spPr>
          <a:xfrm>
            <a:off x="4349799" y="1614487"/>
            <a:ext cx="3492549" cy="4629150"/>
          </a:xfrm>
          <a:prstGeom prst="rect">
            <a:avLst/>
          </a:prstGeom>
          <a:noFill/>
          <a:ln>
            <a:noFill/>
          </a:ln>
        </p:spPr>
      </p:pic>
      <p:pic>
        <p:nvPicPr>
          <p:cNvPr descr="image.png" id="143" name="Google Shape;143;p17"/>
          <p:cNvPicPr preferRelativeResize="0"/>
          <p:nvPr/>
        </p:nvPicPr>
        <p:blipFill rotWithShape="1">
          <a:blip r:embed="rId6">
            <a:alphaModFix/>
          </a:blip>
          <a:srcRect b="0" l="0" r="0" t="0"/>
          <a:stretch/>
        </p:blipFill>
        <p:spPr>
          <a:xfrm>
            <a:off x="8128099" y="1614487"/>
            <a:ext cx="3492549" cy="4629150"/>
          </a:xfrm>
          <a:prstGeom prst="rect">
            <a:avLst/>
          </a:prstGeom>
          <a:noFill/>
          <a:ln>
            <a:noFill/>
          </a:ln>
        </p:spPr>
      </p:pic>
      <p:sp>
        <p:nvSpPr>
          <p:cNvPr id="144" name="Google Shape;144;p17"/>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Hiểu Rõ Trợ Lý Của Bạn: Giỏi &amp; Yếu</a:t>
            </a:r>
            <a:endParaRPr/>
          </a:p>
        </p:txBody>
      </p:sp>
      <p:sp>
        <p:nvSpPr>
          <p:cNvPr id="145" name="Google Shape;145;p17"/>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7"/>
          <p:cNvSpPr txBox="1"/>
          <p:nvPr/>
        </p:nvSpPr>
        <p:spPr>
          <a:xfrm>
            <a:off x="784223" y="2643187"/>
            <a:ext cx="30671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38A169"/>
                </a:solidFill>
                <a:latin typeface="Montserrat SemiBold"/>
                <a:ea typeface="Montserrat SemiBold"/>
                <a:cs typeface="Montserrat SemiBold"/>
                <a:sym typeface="Montserrat SemiBold"/>
              </a:rPr>
              <a:t>AI Rất Giỏi</a:t>
            </a:r>
            <a:endParaRPr/>
          </a:p>
        </p:txBody>
      </p:sp>
      <p:sp>
        <p:nvSpPr>
          <p:cNvPr id="147" name="Google Shape;147;p17"/>
          <p:cNvSpPr txBox="1"/>
          <p:nvPr/>
        </p:nvSpPr>
        <p:spPr>
          <a:xfrm>
            <a:off x="4562523" y="2643187"/>
            <a:ext cx="30671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E53E3E"/>
                </a:solidFill>
                <a:latin typeface="Montserrat SemiBold"/>
                <a:ea typeface="Montserrat SemiBold"/>
                <a:cs typeface="Montserrat SemiBold"/>
                <a:sym typeface="Montserrat SemiBold"/>
              </a:rPr>
              <a:t>AI Còn Yếu</a:t>
            </a:r>
            <a:endParaRPr/>
          </a:p>
        </p:txBody>
      </p:sp>
      <p:sp>
        <p:nvSpPr>
          <p:cNvPr id="148" name="Google Shape;148;p17"/>
          <p:cNvSpPr txBox="1"/>
          <p:nvPr/>
        </p:nvSpPr>
        <p:spPr>
          <a:xfrm>
            <a:off x="8340822" y="2643187"/>
            <a:ext cx="30671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D69E2E"/>
                </a:solidFill>
                <a:latin typeface="Montserrat SemiBold"/>
                <a:ea typeface="Montserrat SemiBold"/>
                <a:cs typeface="Montserrat SemiBold"/>
                <a:sym typeface="Montserrat SemiBold"/>
              </a:rPr>
              <a:t>Nguyên Tắc An Toàn</a:t>
            </a:r>
            <a:endParaRPr/>
          </a:p>
        </p:txBody>
      </p:sp>
      <p:pic>
        <p:nvPicPr>
          <p:cNvPr descr="image.png" id="149" name="Google Shape;149;p17"/>
          <p:cNvPicPr preferRelativeResize="0"/>
          <p:nvPr/>
        </p:nvPicPr>
        <p:blipFill rotWithShape="1">
          <a:blip r:embed="rId7">
            <a:alphaModFix/>
          </a:blip>
          <a:srcRect b="0" l="0" r="0" t="0"/>
          <a:stretch/>
        </p:blipFill>
        <p:spPr>
          <a:xfrm>
            <a:off x="2151012" y="1985962"/>
            <a:ext cx="333375" cy="381000"/>
          </a:xfrm>
          <a:prstGeom prst="rect">
            <a:avLst/>
          </a:prstGeom>
          <a:noFill/>
          <a:ln>
            <a:noFill/>
          </a:ln>
        </p:spPr>
      </p:pic>
      <p:sp>
        <p:nvSpPr>
          <p:cNvPr id="150" name="Google Shape;150;p17"/>
          <p:cNvSpPr txBox="1"/>
          <p:nvPr/>
        </p:nvSpPr>
        <p:spPr>
          <a:xfrm>
            <a:off x="1190625" y="30622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Xử lý lượng lớn văn bản cực nhanh.</a:t>
            </a:r>
            <a:endParaRPr/>
          </a:p>
        </p:txBody>
      </p:sp>
      <p:sp>
        <p:nvSpPr>
          <p:cNvPr id="151" name="Google Shape;151;p17"/>
          <p:cNvSpPr txBox="1"/>
          <p:nvPr/>
        </p:nvSpPr>
        <p:spPr>
          <a:xfrm>
            <a:off x="1190625" y="38623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Vượt qua "trang giấy trắng" (tạo bản nháp).</a:t>
            </a:r>
            <a:endParaRPr/>
          </a:p>
        </p:txBody>
      </p:sp>
      <p:sp>
        <p:nvSpPr>
          <p:cNvPr id="152" name="Google Shape;152;p17"/>
          <p:cNvSpPr txBox="1"/>
          <p:nvPr/>
        </p:nvSpPr>
        <p:spPr>
          <a:xfrm>
            <a:off x="1190625" y="4662487"/>
            <a:ext cx="2587674"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Gợi ý ý tưởng đa dạng.</a:t>
            </a:r>
            <a:endParaRPr/>
          </a:p>
        </p:txBody>
      </p:sp>
      <p:sp>
        <p:nvSpPr>
          <p:cNvPr id="153" name="Google Shape;153;p17"/>
          <p:cNvSpPr txBox="1"/>
          <p:nvPr/>
        </p:nvSpPr>
        <p:spPr>
          <a:xfrm>
            <a:off x="1190625" y="51577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Định dạng lại dữ liệu (chuyển chữ thành bảng).</a:t>
            </a:r>
            <a:endParaRPr/>
          </a:p>
        </p:txBody>
      </p:sp>
      <p:pic>
        <p:nvPicPr>
          <p:cNvPr descr="image.png" id="154" name="Google Shape;154;p17"/>
          <p:cNvPicPr preferRelativeResize="0"/>
          <p:nvPr/>
        </p:nvPicPr>
        <p:blipFill rotWithShape="1">
          <a:blip r:embed="rId8">
            <a:alphaModFix/>
          </a:blip>
          <a:srcRect b="0" l="0" r="0" t="0"/>
          <a:stretch/>
        </p:blipFill>
        <p:spPr>
          <a:xfrm>
            <a:off x="5905500" y="1985962"/>
            <a:ext cx="381000" cy="381000"/>
          </a:xfrm>
          <a:prstGeom prst="rect">
            <a:avLst/>
          </a:prstGeom>
          <a:noFill/>
          <a:ln>
            <a:noFill/>
          </a:ln>
        </p:spPr>
      </p:pic>
      <p:sp>
        <p:nvSpPr>
          <p:cNvPr id="155" name="Google Shape;155;p17"/>
          <p:cNvSpPr txBox="1"/>
          <p:nvPr/>
        </p:nvSpPr>
        <p:spPr>
          <a:xfrm>
            <a:off x="4968924" y="30622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"Ảo giác" (Hallucination):</a:t>
            </a:r>
            <a:r>
              <a:rPr b="0" i="0" lang="en-US" sz="1500" u="none" cap="none" strike="noStrike">
                <a:solidFill>
                  <a:srgbClr val="2D3748"/>
                </a:solidFill>
                <a:latin typeface="Nunito Sans"/>
                <a:ea typeface="Nunito Sans"/>
                <a:cs typeface="Nunito Sans"/>
                <a:sym typeface="Nunito Sans"/>
              </a:rPr>
              <a:t> Bịa đặt thông tin một cách tự tin.</a:t>
            </a:r>
            <a:endParaRPr/>
          </a:p>
        </p:txBody>
      </p:sp>
      <p:sp>
        <p:nvSpPr>
          <p:cNvPr id="156" name="Google Shape;156;p17"/>
          <p:cNvSpPr txBox="1"/>
          <p:nvPr/>
        </p:nvSpPr>
        <p:spPr>
          <a:xfrm>
            <a:off x="4968924" y="3862387"/>
            <a:ext cx="2587674"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Không hiểu bối cảnh nội bộ trường nếu không được nạp dữ liệu.</a:t>
            </a:r>
            <a:endParaRPr/>
          </a:p>
        </p:txBody>
      </p:sp>
      <p:sp>
        <p:nvSpPr>
          <p:cNvPr id="157" name="Google Shape;157;p17"/>
          <p:cNvSpPr txBox="1"/>
          <p:nvPr/>
        </p:nvSpPr>
        <p:spPr>
          <a:xfrm>
            <a:off x="4968924" y="49672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Không thể chịu trách nhiệm:</a:t>
            </a:r>
            <a:r>
              <a:rPr b="0" i="0" lang="en-US" sz="1500" u="none" cap="none" strike="noStrike">
                <a:solidFill>
                  <a:srgbClr val="2D3748"/>
                </a:solidFill>
                <a:latin typeface="Nunito Sans"/>
                <a:ea typeface="Nunito Sans"/>
                <a:cs typeface="Nunito Sans"/>
                <a:sym typeface="Nunito Sans"/>
              </a:rPr>
              <a:t> Con người phải duyệt cuối.</a:t>
            </a:r>
            <a:endParaRPr/>
          </a:p>
        </p:txBody>
      </p:sp>
      <p:pic>
        <p:nvPicPr>
          <p:cNvPr descr="image.png" id="158" name="Google Shape;158;p17"/>
          <p:cNvPicPr preferRelativeResize="0"/>
          <p:nvPr/>
        </p:nvPicPr>
        <p:blipFill rotWithShape="1">
          <a:blip r:embed="rId9">
            <a:alphaModFix/>
          </a:blip>
          <a:srcRect b="0" l="0" r="0" t="0"/>
          <a:stretch/>
        </p:blipFill>
        <p:spPr>
          <a:xfrm>
            <a:off x="9683799" y="1985962"/>
            <a:ext cx="381000" cy="381000"/>
          </a:xfrm>
          <a:prstGeom prst="rect">
            <a:avLst/>
          </a:prstGeom>
          <a:noFill/>
          <a:ln>
            <a:noFill/>
          </a:ln>
        </p:spPr>
      </p:pic>
      <p:sp>
        <p:nvSpPr>
          <p:cNvPr id="159" name="Google Shape;159;p17"/>
          <p:cNvSpPr txBox="1"/>
          <p:nvPr/>
        </p:nvSpPr>
        <p:spPr>
          <a:xfrm>
            <a:off x="8747224" y="30622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KHÔNG</a:t>
            </a:r>
            <a:r>
              <a:rPr b="0" i="0" lang="en-US" sz="1500" u="none" cap="none" strike="noStrike">
                <a:solidFill>
                  <a:srgbClr val="2D3748"/>
                </a:solidFill>
                <a:latin typeface="Nunito Sans"/>
                <a:ea typeface="Nunito Sans"/>
                <a:cs typeface="Nunito Sans"/>
                <a:sym typeface="Nunito Sans"/>
              </a:rPr>
              <a:t> nhập thông tin cá nhân của SV/GV.</a:t>
            </a:r>
            <a:endParaRPr/>
          </a:p>
        </p:txBody>
      </p:sp>
      <p:sp>
        <p:nvSpPr>
          <p:cNvPr id="160" name="Google Shape;160;p17"/>
          <p:cNvSpPr txBox="1"/>
          <p:nvPr/>
        </p:nvSpPr>
        <p:spPr>
          <a:xfrm>
            <a:off x="8747224" y="38623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KHÔNG</a:t>
            </a:r>
            <a:r>
              <a:rPr b="0" i="0" lang="en-US" sz="1500" u="none" cap="none" strike="noStrike">
                <a:solidFill>
                  <a:srgbClr val="2D3748"/>
                </a:solidFill>
                <a:latin typeface="Nunito Sans"/>
                <a:ea typeface="Nunito Sans"/>
                <a:cs typeface="Nunito Sans"/>
                <a:sym typeface="Nunito Sans"/>
              </a:rPr>
              <a:t> nhập dữ liệu mật, điểm thi chưa công bố.</a:t>
            </a:r>
            <a:endParaRPr/>
          </a:p>
        </p:txBody>
      </p:sp>
      <p:sp>
        <p:nvSpPr>
          <p:cNvPr id="161" name="Google Shape;161;p17"/>
          <p:cNvSpPr txBox="1"/>
          <p:nvPr/>
        </p:nvSpPr>
        <p:spPr>
          <a:xfrm>
            <a:off x="8747224" y="4662487"/>
            <a:ext cx="2587674"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Chỉ chia sẻ những gì có thể công khai trên website.</a:t>
            </a:r>
            <a:endParaRPr/>
          </a:p>
        </p:txBody>
      </p:sp>
      <p:pic>
        <p:nvPicPr>
          <p:cNvPr descr="image.png" id="162" name="Google Shape;162;p17"/>
          <p:cNvPicPr preferRelativeResize="0"/>
          <p:nvPr/>
        </p:nvPicPr>
        <p:blipFill rotWithShape="1">
          <a:blip r:embed="rId10">
            <a:alphaModFix/>
          </a:blip>
          <a:srcRect b="0" l="0" r="0" t="0"/>
          <a:stretch/>
        </p:blipFill>
        <p:spPr>
          <a:xfrm>
            <a:off x="857250" y="3105150"/>
            <a:ext cx="171450" cy="200025"/>
          </a:xfrm>
          <a:prstGeom prst="rect">
            <a:avLst/>
          </a:prstGeom>
          <a:noFill/>
          <a:ln>
            <a:noFill/>
          </a:ln>
        </p:spPr>
      </p:pic>
      <p:pic>
        <p:nvPicPr>
          <p:cNvPr descr="image.png" id="163" name="Google Shape;163;p17"/>
          <p:cNvPicPr preferRelativeResize="0"/>
          <p:nvPr/>
        </p:nvPicPr>
        <p:blipFill rotWithShape="1">
          <a:blip r:embed="rId10">
            <a:alphaModFix/>
          </a:blip>
          <a:srcRect b="0" l="0" r="0" t="0"/>
          <a:stretch/>
        </p:blipFill>
        <p:spPr>
          <a:xfrm>
            <a:off x="857250" y="3905250"/>
            <a:ext cx="171450" cy="200025"/>
          </a:xfrm>
          <a:prstGeom prst="rect">
            <a:avLst/>
          </a:prstGeom>
          <a:noFill/>
          <a:ln>
            <a:noFill/>
          </a:ln>
        </p:spPr>
      </p:pic>
      <p:pic>
        <p:nvPicPr>
          <p:cNvPr descr="image.png" id="164" name="Google Shape;164;p17"/>
          <p:cNvPicPr preferRelativeResize="0"/>
          <p:nvPr/>
        </p:nvPicPr>
        <p:blipFill rotWithShape="1">
          <a:blip r:embed="rId10">
            <a:alphaModFix/>
          </a:blip>
          <a:srcRect b="0" l="0" r="0" t="0"/>
          <a:stretch/>
        </p:blipFill>
        <p:spPr>
          <a:xfrm>
            <a:off x="857250" y="4705350"/>
            <a:ext cx="171450" cy="200025"/>
          </a:xfrm>
          <a:prstGeom prst="rect">
            <a:avLst/>
          </a:prstGeom>
          <a:noFill/>
          <a:ln>
            <a:noFill/>
          </a:ln>
        </p:spPr>
      </p:pic>
      <p:pic>
        <p:nvPicPr>
          <p:cNvPr descr="image.png" id="165" name="Google Shape;165;p17"/>
          <p:cNvPicPr preferRelativeResize="0"/>
          <p:nvPr/>
        </p:nvPicPr>
        <p:blipFill rotWithShape="1">
          <a:blip r:embed="rId10">
            <a:alphaModFix/>
          </a:blip>
          <a:srcRect b="0" l="0" r="0" t="0"/>
          <a:stretch/>
        </p:blipFill>
        <p:spPr>
          <a:xfrm>
            <a:off x="857250" y="5200650"/>
            <a:ext cx="171450" cy="200025"/>
          </a:xfrm>
          <a:prstGeom prst="rect">
            <a:avLst/>
          </a:prstGeom>
          <a:noFill/>
          <a:ln>
            <a:noFill/>
          </a:ln>
        </p:spPr>
      </p:pic>
      <p:pic>
        <p:nvPicPr>
          <p:cNvPr descr="image.png" id="166" name="Google Shape;166;p17"/>
          <p:cNvPicPr preferRelativeResize="0"/>
          <p:nvPr/>
        </p:nvPicPr>
        <p:blipFill rotWithShape="1">
          <a:blip r:embed="rId11">
            <a:alphaModFix/>
          </a:blip>
          <a:srcRect b="0" l="0" r="0" t="0"/>
          <a:stretch/>
        </p:blipFill>
        <p:spPr>
          <a:xfrm>
            <a:off x="4635549" y="3105150"/>
            <a:ext cx="142875" cy="200025"/>
          </a:xfrm>
          <a:prstGeom prst="rect">
            <a:avLst/>
          </a:prstGeom>
          <a:noFill/>
          <a:ln>
            <a:noFill/>
          </a:ln>
        </p:spPr>
      </p:pic>
      <p:pic>
        <p:nvPicPr>
          <p:cNvPr descr="image.png" id="167" name="Google Shape;167;p17"/>
          <p:cNvPicPr preferRelativeResize="0"/>
          <p:nvPr/>
        </p:nvPicPr>
        <p:blipFill rotWithShape="1">
          <a:blip r:embed="rId11">
            <a:alphaModFix/>
          </a:blip>
          <a:srcRect b="0" l="0" r="0" t="0"/>
          <a:stretch/>
        </p:blipFill>
        <p:spPr>
          <a:xfrm>
            <a:off x="4635549" y="3905250"/>
            <a:ext cx="142875" cy="200025"/>
          </a:xfrm>
          <a:prstGeom prst="rect">
            <a:avLst/>
          </a:prstGeom>
          <a:noFill/>
          <a:ln>
            <a:noFill/>
          </a:ln>
        </p:spPr>
      </p:pic>
      <p:pic>
        <p:nvPicPr>
          <p:cNvPr descr="image.png" id="168" name="Google Shape;168;p17"/>
          <p:cNvPicPr preferRelativeResize="0"/>
          <p:nvPr/>
        </p:nvPicPr>
        <p:blipFill rotWithShape="1">
          <a:blip r:embed="rId11">
            <a:alphaModFix/>
          </a:blip>
          <a:srcRect b="0" l="0" r="0" t="0"/>
          <a:stretch/>
        </p:blipFill>
        <p:spPr>
          <a:xfrm>
            <a:off x="4635549" y="5010150"/>
            <a:ext cx="142875" cy="200025"/>
          </a:xfrm>
          <a:prstGeom prst="rect">
            <a:avLst/>
          </a:prstGeom>
          <a:noFill/>
          <a:ln>
            <a:noFill/>
          </a:ln>
        </p:spPr>
      </p:pic>
      <p:pic>
        <p:nvPicPr>
          <p:cNvPr descr="image.png" id="169" name="Google Shape;169;p17"/>
          <p:cNvPicPr preferRelativeResize="0"/>
          <p:nvPr/>
        </p:nvPicPr>
        <p:blipFill rotWithShape="1">
          <a:blip r:embed="rId12">
            <a:alphaModFix/>
          </a:blip>
          <a:srcRect b="0" l="0" r="0" t="0"/>
          <a:stretch/>
        </p:blipFill>
        <p:spPr>
          <a:xfrm>
            <a:off x="8413849" y="3105150"/>
            <a:ext cx="190500" cy="200025"/>
          </a:xfrm>
          <a:prstGeom prst="rect">
            <a:avLst/>
          </a:prstGeom>
          <a:noFill/>
          <a:ln>
            <a:noFill/>
          </a:ln>
        </p:spPr>
      </p:pic>
      <p:pic>
        <p:nvPicPr>
          <p:cNvPr descr="image.png" id="170" name="Google Shape;170;p17"/>
          <p:cNvPicPr preferRelativeResize="0"/>
          <p:nvPr/>
        </p:nvPicPr>
        <p:blipFill rotWithShape="1">
          <a:blip r:embed="rId12">
            <a:alphaModFix/>
          </a:blip>
          <a:srcRect b="0" l="0" r="0" t="0"/>
          <a:stretch/>
        </p:blipFill>
        <p:spPr>
          <a:xfrm>
            <a:off x="8413849" y="3905250"/>
            <a:ext cx="190500" cy="200025"/>
          </a:xfrm>
          <a:prstGeom prst="rect">
            <a:avLst/>
          </a:prstGeom>
          <a:noFill/>
          <a:ln>
            <a:noFill/>
          </a:ln>
        </p:spPr>
      </p:pic>
      <p:pic>
        <p:nvPicPr>
          <p:cNvPr descr="image.png" id="171" name="Google Shape;171;p17"/>
          <p:cNvPicPr preferRelativeResize="0"/>
          <p:nvPr/>
        </p:nvPicPr>
        <p:blipFill rotWithShape="1">
          <a:blip r:embed="rId13">
            <a:alphaModFix/>
          </a:blip>
          <a:srcRect b="0" l="0" r="0" t="0"/>
          <a:stretch/>
        </p:blipFill>
        <p:spPr>
          <a:xfrm>
            <a:off x="8413849" y="4705350"/>
            <a:ext cx="190500" cy="200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image.png" id="176" name="Google Shape;176;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7" name="Google Shape;177;p18"/>
          <p:cNvSpPr/>
          <p:nvPr/>
        </p:nvSpPr>
        <p:spPr>
          <a:xfrm>
            <a:off x="5381625" y="2431702"/>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295275" y="2755552"/>
            <a:ext cx="11601450"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7FAFC"/>
                </a:solidFill>
                <a:latin typeface="Montserrat"/>
                <a:ea typeface="Montserrat"/>
                <a:cs typeface="Montserrat"/>
                <a:sym typeface="Montserrat"/>
              </a:rPr>
              <a:t>Phần 2: Nghệ Thuật Viết Prompt</a:t>
            </a:r>
            <a:endParaRPr/>
          </a:p>
        </p:txBody>
      </p:sp>
      <p:sp>
        <p:nvSpPr>
          <p:cNvPr id="179" name="Google Shape;179;p18"/>
          <p:cNvSpPr txBox="1"/>
          <p:nvPr/>
        </p:nvSpPr>
        <p:spPr>
          <a:xfrm>
            <a:off x="571500" y="3593752"/>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a:ea typeface="Nunito Sans"/>
                <a:cs typeface="Nunito Sans"/>
                <a:sym typeface="Nunito Sans"/>
              </a:rPr>
              <a:t>Prompt không phải là câu hỏi, mà là "giao việc"</a:t>
            </a:r>
            <a:endParaRPr/>
          </a:p>
        </p:txBody>
      </p:sp>
      <p:sp>
        <p:nvSpPr>
          <p:cNvPr id="180" name="Google Shape;180;p18"/>
          <p:cNvSpPr/>
          <p:nvPr/>
        </p:nvSpPr>
        <p:spPr>
          <a:xfrm>
            <a:off x="5381625" y="4388048"/>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image.png" id="185" name="Google Shape;18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6" name="Google Shape;186;p19"/>
          <p:cNvPicPr preferRelativeResize="0"/>
          <p:nvPr/>
        </p:nvPicPr>
        <p:blipFill rotWithShape="1">
          <a:blip r:embed="rId4">
            <a:alphaModFix/>
          </a:blip>
          <a:srcRect b="0" l="0" r="0" t="0"/>
          <a:stretch/>
        </p:blipFill>
        <p:spPr>
          <a:xfrm>
            <a:off x="571500" y="2190750"/>
            <a:ext cx="5286375" cy="1916310"/>
          </a:xfrm>
          <a:prstGeom prst="rect">
            <a:avLst/>
          </a:prstGeom>
          <a:noFill/>
          <a:ln>
            <a:noFill/>
          </a:ln>
        </p:spPr>
      </p:pic>
      <p:pic>
        <p:nvPicPr>
          <p:cNvPr descr="image.png" id="187" name="Google Shape;187;p19"/>
          <p:cNvPicPr preferRelativeResize="0"/>
          <p:nvPr/>
        </p:nvPicPr>
        <p:blipFill rotWithShape="1">
          <a:blip r:embed="rId5">
            <a:alphaModFix/>
          </a:blip>
          <a:srcRect b="0" l="0" r="0" t="0"/>
          <a:stretch/>
        </p:blipFill>
        <p:spPr>
          <a:xfrm>
            <a:off x="571500" y="4297560"/>
            <a:ext cx="5286375" cy="2200275"/>
          </a:xfrm>
          <a:prstGeom prst="rect">
            <a:avLst/>
          </a:prstGeom>
          <a:noFill/>
          <a:ln>
            <a:noFill/>
          </a:ln>
        </p:spPr>
      </p:pic>
      <p:pic>
        <p:nvPicPr>
          <p:cNvPr descr="image.png" id="188" name="Google Shape;188;p19"/>
          <p:cNvPicPr preferRelativeResize="0"/>
          <p:nvPr/>
        </p:nvPicPr>
        <p:blipFill rotWithShape="1">
          <a:blip r:embed="rId6">
            <a:alphaModFix/>
          </a:blip>
          <a:srcRect b="0" l="0" r="0" t="0"/>
          <a:stretch/>
        </p:blipFill>
        <p:spPr>
          <a:xfrm>
            <a:off x="6334125" y="1438275"/>
            <a:ext cx="5286375" cy="3810000"/>
          </a:xfrm>
          <a:prstGeom prst="rect">
            <a:avLst/>
          </a:prstGeom>
          <a:noFill/>
          <a:ln>
            <a:noFill/>
          </a:ln>
        </p:spPr>
      </p:pic>
      <p:sp>
        <p:nvSpPr>
          <p:cNvPr id="189" name="Google Shape;189;p19"/>
          <p:cNvSpPr txBox="1"/>
          <p:nvPr/>
        </p:nvSpPr>
        <p:spPr>
          <a:xfrm>
            <a:off x="571500" y="476250"/>
            <a:ext cx="11601450"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Prompt Là Gì? Giao Việc Thế Nào Cho Đúng?</a:t>
            </a:r>
            <a:endParaRPr/>
          </a:p>
        </p:txBody>
      </p:sp>
      <p:sp>
        <p:nvSpPr>
          <p:cNvPr id="190" name="Google Shape;190;p19"/>
          <p:cNvSpPr/>
          <p:nvPr/>
        </p:nvSpPr>
        <p:spPr>
          <a:xfrm>
            <a:off x="571500" y="10287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9"/>
          <p:cNvSpPr txBox="1"/>
          <p:nvPr/>
        </p:nvSpPr>
        <p:spPr>
          <a:xfrm>
            <a:off x="571500" y="1438275"/>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Prompt:</a:t>
            </a:r>
            <a:r>
              <a:rPr b="0" i="0" lang="en-US" sz="1500" u="none" cap="none" strike="noStrike">
                <a:solidFill>
                  <a:srgbClr val="2D3748"/>
                </a:solidFill>
                <a:latin typeface="Nunito Sans"/>
                <a:ea typeface="Nunito Sans"/>
                <a:cs typeface="Nunito Sans"/>
                <a:sym typeface="Nunito Sans"/>
              </a:rPr>
              <a:t> Là những chỉ dẫn, yêu cầu bạn nhập vào AI để nó thực hiện nhiệm vụ.</a:t>
            </a:r>
            <a:endParaRPr/>
          </a:p>
        </p:txBody>
      </p:sp>
      <p:sp>
        <p:nvSpPr>
          <p:cNvPr id="192" name="Google Shape;192;p19"/>
          <p:cNvSpPr txBox="1"/>
          <p:nvPr/>
        </p:nvSpPr>
        <p:spPr>
          <a:xfrm>
            <a:off x="857250" y="2428875"/>
            <a:ext cx="50006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53E3E"/>
                </a:solidFill>
                <a:latin typeface="Montserrat SemiBold"/>
                <a:ea typeface="Montserrat SemiBold"/>
                <a:cs typeface="Montserrat SemiBold"/>
                <a:sym typeface="Montserrat SemiBold"/>
              </a:rPr>
              <a:t>Prompt Kém (Lệnh mơ hồ)</a:t>
            </a:r>
            <a:endParaRPr/>
          </a:p>
        </p:txBody>
      </p:sp>
      <p:sp>
        <p:nvSpPr>
          <p:cNvPr id="193" name="Google Shape;193;p19"/>
          <p:cNvSpPr txBox="1"/>
          <p:nvPr/>
        </p:nvSpPr>
        <p:spPr>
          <a:xfrm>
            <a:off x="857250" y="2790825"/>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2D3748"/>
                </a:solidFill>
                <a:latin typeface="Nunito Sans"/>
                <a:ea typeface="Nunito Sans"/>
                <a:cs typeface="Nunito Sans"/>
                <a:sym typeface="Nunito Sans"/>
              </a:rPr>
              <a:t>"Viết giúp tôi thông báo cho sinh viên."</a:t>
            </a:r>
            <a:endParaRPr/>
          </a:p>
        </p:txBody>
      </p:sp>
      <p:sp>
        <p:nvSpPr>
          <p:cNvPr id="194" name="Google Shape;194;p19"/>
          <p:cNvSpPr txBox="1"/>
          <p:nvPr/>
        </p:nvSpPr>
        <p:spPr>
          <a:xfrm>
            <a:off x="857250" y="3238500"/>
            <a:ext cx="47625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 Kết quả: Chung chung, sai văn phong, thiếu thông tin thời gian, địa điểm.</a:t>
            </a:r>
            <a:endParaRPr/>
          </a:p>
        </p:txBody>
      </p:sp>
      <p:sp>
        <p:nvSpPr>
          <p:cNvPr id="195" name="Google Shape;195;p19"/>
          <p:cNvSpPr txBox="1"/>
          <p:nvPr/>
        </p:nvSpPr>
        <p:spPr>
          <a:xfrm>
            <a:off x="857250" y="4535685"/>
            <a:ext cx="50006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8A169"/>
                </a:solidFill>
                <a:latin typeface="Montserrat SemiBold"/>
                <a:ea typeface="Montserrat SemiBold"/>
                <a:cs typeface="Montserrat SemiBold"/>
                <a:sym typeface="Montserrat SemiBold"/>
              </a:rPr>
              <a:t>Prompt Tốt (Giao việc cụ thể)</a:t>
            </a:r>
            <a:endParaRPr/>
          </a:p>
        </p:txBody>
      </p:sp>
      <p:sp>
        <p:nvSpPr>
          <p:cNvPr id="196" name="Google Shape;196;p19"/>
          <p:cNvSpPr txBox="1"/>
          <p:nvPr/>
        </p:nvSpPr>
        <p:spPr>
          <a:xfrm>
            <a:off x="857250" y="4897635"/>
            <a:ext cx="47625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2D3748"/>
                </a:solidFill>
                <a:latin typeface="Nunito Sans"/>
                <a:ea typeface="Nunito Sans"/>
                <a:cs typeface="Nunito Sans"/>
                <a:sym typeface="Nunito Sans"/>
              </a:rPr>
              <a:t>"Bạn là chuyên viên Phòng Đào tạo. Hãy viết một thông báo nộp học phí học kỳ 1 năm 2026. Hạn cuối là 15/10. Giọng văn trang trọng, rõ ràng. Trình bày dưới dạng gạch đầu dòng."</a:t>
            </a:r>
            <a:endParaRPr/>
          </a:p>
        </p:txBody>
      </p:sp>
      <p:pic>
        <p:nvPicPr>
          <p:cNvPr descr="image.png" id="197" name="Google Shape;197;p19"/>
          <p:cNvPicPr preferRelativeResize="0"/>
          <p:nvPr/>
        </p:nvPicPr>
        <p:blipFill rotWithShape="1">
          <a:blip r:embed="rId7">
            <a:alphaModFix/>
          </a:blip>
          <a:srcRect b="0" l="0" r="0" t="0"/>
          <a:stretch/>
        </p:blipFill>
        <p:spPr>
          <a:xfrm>
            <a:off x="6334125" y="1438275"/>
            <a:ext cx="5286375" cy="381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image.png" id="202" name="Google Shape;202;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3" name="Google Shape;203;p20"/>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Công Thức Prompt Đỉnh Cao: 6 Thành Phần</a:t>
            </a:r>
            <a:endParaRPr/>
          </a:p>
        </p:txBody>
      </p:sp>
      <p:sp>
        <p:nvSpPr>
          <p:cNvPr id="204" name="Google Shape;204;p20"/>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0"/>
          <p:cNvSpPr/>
          <p:nvPr/>
        </p:nvSpPr>
        <p:spPr>
          <a:xfrm>
            <a:off x="571500" y="1788318"/>
            <a:ext cx="11049000" cy="4281487"/>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06" name="Google Shape;206;p20"/>
          <p:cNvGraphicFramePr/>
          <p:nvPr/>
        </p:nvGraphicFramePr>
        <p:xfrm>
          <a:off x="571500" y="1788318"/>
          <a:ext cx="3000000" cy="3000000"/>
        </p:xfrm>
        <a:graphic>
          <a:graphicData uri="http://schemas.openxmlformats.org/drawingml/2006/table">
            <a:tbl>
              <a:tblPr bandRow="1" firstRow="1">
                <a:noFill/>
                <a:tableStyleId>{06F8257E-3AFC-4229-A639-6F7574B332A6}</a:tableStyleId>
              </a:tblPr>
              <a:tblGrid>
                <a:gridCol w="3314700"/>
                <a:gridCol w="7734300"/>
              </a:tblGrid>
              <a:tr h="71357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1. Vai trò (Role)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"Bạn là..." Giúp AI định hình tư duy và ngôn ngữ chuyên ngành. </a:t>
                      </a:r>
                      <a:br>
                        <a:rPr lang="en-US" sz="1800" u="none" cap="none" strike="noStrike">
                          <a:solidFill>
                            <a:schemeClr val="dk1"/>
                          </a:solidFill>
                          <a:latin typeface="Calibri"/>
                          <a:ea typeface="Calibri"/>
                          <a:cs typeface="Calibri"/>
                          <a:sym typeface="Calibri"/>
                        </a:rPr>
                      </a:br>
                      <a:br>
                        <a:rPr b="0" i="0" lang="en-US" sz="1200" u="none" cap="none" strike="noStrike">
                          <a:solidFill>
                            <a:srgbClr val="2D3748"/>
                          </a:solidFill>
                          <a:latin typeface="Nunito Sans"/>
                          <a:ea typeface="Nunito Sans"/>
                          <a:cs typeface="Nunito Sans"/>
                          <a:sym typeface="Nunito Sans"/>
                        </a:rPr>
                      </a:br>
                      <a:r>
                        <a:rPr b="0" i="0" lang="en-US" sz="1200" u="none" cap="none" strike="noStrike">
                          <a:solidFill>
                            <a:srgbClr val="2D3748"/>
                          </a:solidFill>
                          <a:latin typeface="Nunito Sans"/>
                          <a:ea typeface="Nunito Sans"/>
                          <a:cs typeface="Nunito Sans"/>
                          <a:sym typeface="Nunito Sans"/>
                        </a:rPr>
                        <a:t>        (VD: Bạn là một giảng viên kinh tế dày dạn kinh nghiệm).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357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2. Bối cảnh (Context)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"Hiện tại..." Cung cấp tình huống để AI không bị "lạc trôi". </a:t>
                      </a:r>
                      <a:br>
                        <a:rPr lang="en-US" sz="1800" u="none" cap="none" strike="noStrike">
                          <a:solidFill>
                            <a:schemeClr val="dk1"/>
                          </a:solidFill>
                          <a:latin typeface="Calibri"/>
                          <a:ea typeface="Calibri"/>
                          <a:cs typeface="Calibri"/>
                          <a:sym typeface="Calibri"/>
                        </a:rPr>
                      </a:br>
                      <a:br>
                        <a:rPr b="0" i="0" lang="en-US" sz="1200" u="none" cap="none" strike="noStrike">
                          <a:solidFill>
                            <a:srgbClr val="2D3748"/>
                          </a:solidFill>
                          <a:latin typeface="Nunito Sans"/>
                          <a:ea typeface="Nunito Sans"/>
                          <a:cs typeface="Nunito Sans"/>
                          <a:sym typeface="Nunito Sans"/>
                        </a:rPr>
                      </a:br>
                      <a:r>
                        <a:rPr b="0" i="0" lang="en-US" sz="1200" u="none" cap="none" strike="noStrike">
                          <a:solidFill>
                            <a:srgbClr val="2D3748"/>
                          </a:solidFill>
                          <a:latin typeface="Nunito Sans"/>
                          <a:ea typeface="Nunito Sans"/>
                          <a:cs typeface="Nunito Sans"/>
                          <a:sym typeface="Nunito Sans"/>
                        </a:rPr>
                        <a:t>        (VD: Chuẩn bị cho buổi học đầu tiên của tân sinh viên).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357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3. Nhiệm vụ (Task)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"Hãy..." Hành động cụ thể cần làm. </a:t>
                      </a:r>
                      <a:br>
                        <a:rPr lang="en-US" sz="1800" u="none" cap="none" strike="noStrike">
                          <a:solidFill>
                            <a:schemeClr val="dk1"/>
                          </a:solidFill>
                          <a:latin typeface="Calibri"/>
                          <a:ea typeface="Calibri"/>
                          <a:cs typeface="Calibri"/>
                          <a:sym typeface="Calibri"/>
                        </a:rPr>
                      </a:br>
                      <a:br>
                        <a:rPr b="0" i="0" lang="en-US" sz="1200" u="none" cap="none" strike="noStrike">
                          <a:solidFill>
                            <a:srgbClr val="2D3748"/>
                          </a:solidFill>
                          <a:latin typeface="Nunito Sans"/>
                          <a:ea typeface="Nunito Sans"/>
                          <a:cs typeface="Nunito Sans"/>
                          <a:sym typeface="Nunito Sans"/>
                        </a:rPr>
                      </a:br>
                      <a:r>
                        <a:rPr b="0" i="0" lang="en-US" sz="1200" u="none" cap="none" strike="noStrike">
                          <a:solidFill>
                            <a:srgbClr val="2D3748"/>
                          </a:solidFill>
                          <a:latin typeface="Nunito Sans"/>
                          <a:ea typeface="Nunito Sans"/>
                          <a:cs typeface="Nunito Sans"/>
                          <a:sym typeface="Nunito Sans"/>
                        </a:rPr>
                        <a:t>        (VD: Hãy soạn một kịch bản trò chơi phá băng 15 phút).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357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4. Dữ liệu đầu vào (Input)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"Dựa trên nội dung sau..." Cung cấp nguyên liệu để AI không bịa đặt. </a:t>
                      </a:r>
                      <a:br>
                        <a:rPr lang="en-US" sz="1800" u="none" cap="none" strike="noStrike">
                          <a:solidFill>
                            <a:schemeClr val="dk1"/>
                          </a:solidFill>
                          <a:latin typeface="Calibri"/>
                          <a:ea typeface="Calibri"/>
                          <a:cs typeface="Calibri"/>
                          <a:sym typeface="Calibri"/>
                        </a:rPr>
                      </a:br>
                      <a:br>
                        <a:rPr b="0" i="0" lang="en-US" sz="1200" u="none" cap="none" strike="noStrike">
                          <a:solidFill>
                            <a:srgbClr val="2D3748"/>
                          </a:solidFill>
                          <a:latin typeface="Nunito Sans"/>
                          <a:ea typeface="Nunito Sans"/>
                          <a:cs typeface="Nunito Sans"/>
                          <a:sym typeface="Nunito Sans"/>
                        </a:rPr>
                      </a:br>
                      <a:r>
                        <a:rPr b="0" i="0" lang="en-US" sz="1200" u="none" cap="none" strike="noStrike">
                          <a:solidFill>
                            <a:srgbClr val="2D3748"/>
                          </a:solidFill>
                          <a:latin typeface="Nunito Sans"/>
                          <a:ea typeface="Nunito Sans"/>
                          <a:cs typeface="Nunito Sans"/>
                          <a:sym typeface="Nunito Sans"/>
                        </a:rPr>
                        <a:t>        (VD: Dựa trên đề cương môn học đính kèm...).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357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5. Đầu ra (Output)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"Trình bày dưới dạng..." Yêu cầu hình thức. </a:t>
                      </a:r>
                      <a:br>
                        <a:rPr lang="en-US" sz="1800" u="none" cap="none" strike="noStrike">
                          <a:solidFill>
                            <a:schemeClr val="dk1"/>
                          </a:solidFill>
                          <a:latin typeface="Calibri"/>
                          <a:ea typeface="Calibri"/>
                          <a:cs typeface="Calibri"/>
                          <a:sym typeface="Calibri"/>
                        </a:rPr>
                      </a:br>
                      <a:br>
                        <a:rPr b="0" i="0" lang="en-US" sz="1200" u="none" cap="none" strike="noStrike">
                          <a:solidFill>
                            <a:srgbClr val="2D3748"/>
                          </a:solidFill>
                          <a:latin typeface="Nunito Sans"/>
                          <a:ea typeface="Nunito Sans"/>
                          <a:cs typeface="Nunito Sans"/>
                          <a:sym typeface="Nunito Sans"/>
                        </a:rPr>
                      </a:br>
                      <a:r>
                        <a:rPr b="0" i="0" lang="en-US" sz="1200" u="none" cap="none" strike="noStrike">
                          <a:solidFill>
                            <a:srgbClr val="2D3748"/>
                          </a:solidFill>
                          <a:latin typeface="Nunito Sans"/>
                          <a:ea typeface="Nunito Sans"/>
                          <a:cs typeface="Nunito Sans"/>
                          <a:sym typeface="Nunito Sans"/>
                        </a:rPr>
                        <a:t>        (VD: Trình bày dạng bảng gồm Thời gian, Hoạt động, Dụng cụ).</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357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6. Giọng văn (Tone)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"Giọng văn..." Điều chỉnh cảm xúc. </a:t>
                      </a:r>
                      <a:br>
                        <a:rPr lang="en-US" sz="1800" u="none" cap="none" strike="noStrike">
                          <a:solidFill>
                            <a:schemeClr val="dk1"/>
                          </a:solidFill>
                          <a:latin typeface="Calibri"/>
                          <a:ea typeface="Calibri"/>
                          <a:cs typeface="Calibri"/>
                          <a:sym typeface="Calibri"/>
                        </a:rPr>
                      </a:br>
                      <a:br>
                        <a:rPr b="0" i="0" lang="en-US" sz="1200" u="none" cap="none" strike="noStrike">
                          <a:solidFill>
                            <a:srgbClr val="2D3748"/>
                          </a:solidFill>
                          <a:latin typeface="Nunito Sans"/>
                          <a:ea typeface="Nunito Sans"/>
                          <a:cs typeface="Nunito Sans"/>
                          <a:sym typeface="Nunito Sans"/>
                        </a:rPr>
                      </a:br>
                      <a:r>
                        <a:rPr b="0" i="0" lang="en-US" sz="1200" u="none" cap="none" strike="noStrike">
                          <a:solidFill>
                            <a:srgbClr val="2D3748"/>
                          </a:solidFill>
                          <a:latin typeface="Nunito Sans"/>
                          <a:ea typeface="Nunito Sans"/>
                          <a:cs typeface="Nunito Sans"/>
                          <a:sym typeface="Nunito Sans"/>
                        </a:rPr>
                        <a:t>        (VD: Giọng văn thân thiện, khích lệ nhưng giữ sự tôn trọng).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07" name="Google Shape;207;p20"/>
          <p:cNvSpPr/>
          <p:nvPr/>
        </p:nvSpPr>
        <p:spPr>
          <a:xfrm>
            <a:off x="571500" y="2488406"/>
            <a:ext cx="33147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p:nvPr/>
        </p:nvSpPr>
        <p:spPr>
          <a:xfrm>
            <a:off x="3886200" y="2488406"/>
            <a:ext cx="7734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0"/>
          <p:cNvSpPr/>
          <p:nvPr/>
        </p:nvSpPr>
        <p:spPr>
          <a:xfrm>
            <a:off x="571500" y="3202781"/>
            <a:ext cx="33147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p:nvPr/>
        </p:nvSpPr>
        <p:spPr>
          <a:xfrm>
            <a:off x="3886200" y="3202781"/>
            <a:ext cx="7734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0"/>
          <p:cNvSpPr/>
          <p:nvPr/>
        </p:nvSpPr>
        <p:spPr>
          <a:xfrm>
            <a:off x="571500" y="3917156"/>
            <a:ext cx="33147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0"/>
          <p:cNvSpPr/>
          <p:nvPr/>
        </p:nvSpPr>
        <p:spPr>
          <a:xfrm>
            <a:off x="3886200" y="3917156"/>
            <a:ext cx="7734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571500" y="4631531"/>
            <a:ext cx="33147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p:nvPr/>
        </p:nvSpPr>
        <p:spPr>
          <a:xfrm>
            <a:off x="3886200" y="4631531"/>
            <a:ext cx="7734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20"/>
          <p:cNvSpPr/>
          <p:nvPr/>
        </p:nvSpPr>
        <p:spPr>
          <a:xfrm>
            <a:off x="571500" y="5345906"/>
            <a:ext cx="33147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0"/>
          <p:cNvSpPr/>
          <p:nvPr/>
        </p:nvSpPr>
        <p:spPr>
          <a:xfrm>
            <a:off x="3886200" y="5345906"/>
            <a:ext cx="7734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0"/>
          <p:cNvSpPr/>
          <p:nvPr/>
        </p:nvSpPr>
        <p:spPr>
          <a:xfrm>
            <a:off x="571500" y="6055518"/>
            <a:ext cx="33147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image.png" id="222" name="Google Shape;222;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3" name="Google Shape;223;p21"/>
          <p:cNvSpPr/>
          <p:nvPr/>
        </p:nvSpPr>
        <p:spPr>
          <a:xfrm>
            <a:off x="5381625" y="2107852"/>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1"/>
          <p:cNvSpPr txBox="1"/>
          <p:nvPr/>
        </p:nvSpPr>
        <p:spPr>
          <a:xfrm>
            <a:off x="295275" y="2431702"/>
            <a:ext cx="11601450" cy="129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7FAFC"/>
                </a:solidFill>
                <a:latin typeface="Montserrat"/>
                <a:ea typeface="Montserrat"/>
                <a:cs typeface="Montserrat"/>
                <a:sym typeface="Montserrat"/>
              </a:rPr>
              <a:t>Phần 3: Ứng Dụng Cho Cán Bộ Phòng Ban</a:t>
            </a:r>
            <a:endParaRPr/>
          </a:p>
        </p:txBody>
      </p:sp>
      <p:sp>
        <p:nvSpPr>
          <p:cNvPr id="225" name="Google Shape;225;p21"/>
          <p:cNvSpPr txBox="1"/>
          <p:nvPr/>
        </p:nvSpPr>
        <p:spPr>
          <a:xfrm>
            <a:off x="571500" y="3917602"/>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a:ea typeface="Nunito Sans"/>
                <a:cs typeface="Nunito Sans"/>
                <a:sym typeface="Nunito Sans"/>
              </a:rPr>
              <a:t>Giảm tải công việc hành chính lặp lại</a:t>
            </a:r>
            <a:endParaRPr/>
          </a:p>
        </p:txBody>
      </p:sp>
      <p:sp>
        <p:nvSpPr>
          <p:cNvPr id="226" name="Google Shape;226;p21"/>
          <p:cNvSpPr/>
          <p:nvPr/>
        </p:nvSpPr>
        <p:spPr>
          <a:xfrm>
            <a:off x="5381625" y="4711898"/>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image.png" id="231" name="Google Shape;231;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2" name="Google Shape;232;p22"/>
          <p:cNvPicPr preferRelativeResize="0"/>
          <p:nvPr/>
        </p:nvPicPr>
        <p:blipFill rotWithShape="1">
          <a:blip r:embed="rId4">
            <a:alphaModFix/>
          </a:blip>
          <a:srcRect b="0" l="0" r="0" t="0"/>
          <a:stretch/>
        </p:blipFill>
        <p:spPr>
          <a:xfrm>
            <a:off x="6334125" y="1719262"/>
            <a:ext cx="5286375" cy="3810000"/>
          </a:xfrm>
          <a:prstGeom prst="rect">
            <a:avLst/>
          </a:prstGeom>
          <a:noFill/>
          <a:ln>
            <a:noFill/>
          </a:ln>
        </p:spPr>
      </p:pic>
      <p:sp>
        <p:nvSpPr>
          <p:cNvPr id="233" name="Google Shape;233;p22"/>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Tối Ưu Công Việc Tại Các Phòng Ban</a:t>
            </a:r>
            <a:endParaRPr/>
          </a:p>
        </p:txBody>
      </p:sp>
      <p:sp>
        <p:nvSpPr>
          <p:cNvPr id="234" name="Google Shape;234;p22"/>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2"/>
          <p:cNvSpPr txBox="1"/>
          <p:nvPr/>
        </p:nvSpPr>
        <p:spPr>
          <a:xfrm>
            <a:off x="904875" y="17192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Phòng Đào Tạo:</a:t>
            </a:r>
            <a:r>
              <a:rPr b="0" i="0" lang="en-US" sz="1500" u="none" cap="none" strike="noStrike">
                <a:solidFill>
                  <a:srgbClr val="2D3748"/>
                </a:solidFill>
                <a:latin typeface="Nunito Sans"/>
                <a:ea typeface="Nunito Sans"/>
                <a:cs typeface="Nunito Sans"/>
                <a:sym typeface="Nunito Sans"/>
              </a:rPr>
              <a:t> Soạn thảo nhanh thông báo, quy định học vụ; Lên khung kế hoạch hoạt động; Tóm tắt các văn bản pháp quy dài; Phân loại phản hồi của sinh viên.</a:t>
            </a:r>
            <a:endParaRPr/>
          </a:p>
        </p:txBody>
      </p:sp>
      <p:sp>
        <p:nvSpPr>
          <p:cNvPr id="236" name="Google Shape;236;p22"/>
          <p:cNvSpPr txBox="1"/>
          <p:nvPr/>
        </p:nvSpPr>
        <p:spPr>
          <a:xfrm>
            <a:off x="904875" y="28241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Phòng CTSV:</a:t>
            </a:r>
            <a:r>
              <a:rPr b="0" i="0" lang="en-US" sz="1500" u="none" cap="none" strike="noStrike">
                <a:solidFill>
                  <a:srgbClr val="2D3748"/>
                </a:solidFill>
                <a:latin typeface="Nunito Sans"/>
                <a:ea typeface="Nunito Sans"/>
                <a:cs typeface="Nunito Sans"/>
                <a:sym typeface="Nunito Sans"/>
              </a:rPr>
              <a:t> Lên kịch bản tư vấn tâm lý cơ bản; Soạn mẫu email phản hồi tự động chuẩn mực; Xây dựng kế hoạch sự kiện sinh viên.</a:t>
            </a:r>
            <a:endParaRPr/>
          </a:p>
        </p:txBody>
      </p:sp>
      <p:sp>
        <p:nvSpPr>
          <p:cNvPr id="237" name="Google Shape;237;p22"/>
          <p:cNvSpPr txBox="1"/>
          <p:nvPr/>
        </p:nvSpPr>
        <p:spPr>
          <a:xfrm>
            <a:off x="904875" y="39290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Phòng Khảo Thí:</a:t>
            </a:r>
            <a:r>
              <a:rPr b="0" i="0" lang="en-US" sz="1500" u="none" cap="none" strike="noStrike">
                <a:solidFill>
                  <a:srgbClr val="2D3748"/>
                </a:solidFill>
                <a:latin typeface="Nunito Sans"/>
                <a:ea typeface="Nunito Sans"/>
                <a:cs typeface="Nunito Sans"/>
                <a:sym typeface="Nunito Sans"/>
              </a:rPr>
              <a:t> Xây dựng biểu mẫu (Rubric) đánh giá; Soạn thảo phiếu khảo sát nhanh; Checklist quy trình tổ chức thi.</a:t>
            </a:r>
            <a:endParaRPr/>
          </a:p>
        </p:txBody>
      </p:sp>
      <p:sp>
        <p:nvSpPr>
          <p:cNvPr id="238" name="Google Shape;238;p22"/>
          <p:cNvSpPr txBox="1"/>
          <p:nvPr/>
        </p:nvSpPr>
        <p:spPr>
          <a:xfrm>
            <a:off x="904875" y="50339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Tuyển Sinh &amp; Truyền Thông:</a:t>
            </a:r>
            <a:r>
              <a:rPr b="0" i="0" lang="en-US" sz="1500" u="none" cap="none" strike="noStrike">
                <a:solidFill>
                  <a:srgbClr val="2D3748"/>
                </a:solidFill>
                <a:latin typeface="Nunito Sans"/>
                <a:ea typeface="Nunito Sans"/>
                <a:cs typeface="Nunito Sans"/>
                <a:sym typeface="Nunito Sans"/>
              </a:rPr>
              <a:t> Viết nội dung bài đăng fanpage; Soạn FAQ giải đáp thắc mắc tuyển sinh ngành học; Viết kịch bản video giới thiệu trường.</a:t>
            </a:r>
            <a:endParaRPr/>
          </a:p>
        </p:txBody>
      </p:sp>
      <p:pic>
        <p:nvPicPr>
          <p:cNvPr descr="image.png" id="239" name="Google Shape;239;p22"/>
          <p:cNvPicPr preferRelativeResize="0"/>
          <p:nvPr/>
        </p:nvPicPr>
        <p:blipFill rotWithShape="1">
          <a:blip r:embed="rId5">
            <a:alphaModFix/>
          </a:blip>
          <a:srcRect b="0" l="0" r="0" t="0"/>
          <a:stretch/>
        </p:blipFill>
        <p:spPr>
          <a:xfrm>
            <a:off x="6334125" y="1719262"/>
            <a:ext cx="5286375" cy="381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image.png" id="244" name="Google Shape;244;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5" name="Google Shape;245;p23"/>
          <p:cNvSpPr/>
          <p:nvPr/>
        </p:nvSpPr>
        <p:spPr>
          <a:xfrm>
            <a:off x="5381625" y="2431702"/>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3"/>
          <p:cNvSpPr txBox="1"/>
          <p:nvPr/>
        </p:nvSpPr>
        <p:spPr>
          <a:xfrm>
            <a:off x="295275" y="2755552"/>
            <a:ext cx="11601450"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7FAFC"/>
                </a:solidFill>
                <a:latin typeface="Montserrat"/>
                <a:ea typeface="Montserrat"/>
                <a:cs typeface="Montserrat"/>
                <a:sym typeface="Montserrat"/>
              </a:rPr>
              <a:t>Phần 4: Ứng Dụng Cho Giảng Viên</a:t>
            </a:r>
            <a:endParaRPr/>
          </a:p>
        </p:txBody>
      </p:sp>
      <p:sp>
        <p:nvSpPr>
          <p:cNvPr id="247" name="Google Shape;247;p23"/>
          <p:cNvSpPr txBox="1"/>
          <p:nvPr/>
        </p:nvSpPr>
        <p:spPr>
          <a:xfrm>
            <a:off x="571500" y="3593752"/>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a:ea typeface="Nunito Sans"/>
                <a:cs typeface="Nunito Sans"/>
                <a:sym typeface="Nunito Sans"/>
              </a:rPr>
              <a:t>Trợ lý chuẩn bị bài giảng &amp; đánh giá</a:t>
            </a:r>
            <a:endParaRPr/>
          </a:p>
        </p:txBody>
      </p:sp>
      <p:sp>
        <p:nvSpPr>
          <p:cNvPr id="248" name="Google Shape;248;p23"/>
          <p:cNvSpPr/>
          <p:nvPr/>
        </p:nvSpPr>
        <p:spPr>
          <a:xfrm>
            <a:off x="5381625" y="4388048"/>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image.png" id="253" name="Google Shape;253;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4" name="Google Shape;254;p24"/>
          <p:cNvPicPr preferRelativeResize="0"/>
          <p:nvPr/>
        </p:nvPicPr>
        <p:blipFill rotWithShape="1">
          <a:blip r:embed="rId4">
            <a:alphaModFix/>
          </a:blip>
          <a:srcRect b="0" l="0" r="0" t="0"/>
          <a:stretch/>
        </p:blipFill>
        <p:spPr>
          <a:xfrm>
            <a:off x="571500" y="1871662"/>
            <a:ext cx="5286375" cy="3810000"/>
          </a:xfrm>
          <a:prstGeom prst="rect">
            <a:avLst/>
          </a:prstGeom>
          <a:noFill/>
          <a:ln>
            <a:noFill/>
          </a:ln>
        </p:spPr>
      </p:pic>
      <p:sp>
        <p:nvSpPr>
          <p:cNvPr id="255" name="Google Shape;255;p24"/>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AI Đồng Hành Trong Quy Trình Giảng Dạy</a:t>
            </a:r>
            <a:endParaRPr/>
          </a:p>
        </p:txBody>
      </p:sp>
      <p:sp>
        <p:nvSpPr>
          <p:cNvPr id="256" name="Google Shape;256;p24"/>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57" name="Google Shape;257;p24"/>
          <p:cNvPicPr preferRelativeResize="0"/>
          <p:nvPr/>
        </p:nvPicPr>
        <p:blipFill rotWithShape="1">
          <a:blip r:embed="rId5">
            <a:alphaModFix/>
          </a:blip>
          <a:srcRect b="0" l="0" r="0" t="0"/>
          <a:stretch/>
        </p:blipFill>
        <p:spPr>
          <a:xfrm>
            <a:off x="571500" y="1871662"/>
            <a:ext cx="5286375" cy="3810000"/>
          </a:xfrm>
          <a:prstGeom prst="rect">
            <a:avLst/>
          </a:prstGeom>
          <a:noFill/>
          <a:ln>
            <a:noFill/>
          </a:ln>
        </p:spPr>
      </p:pic>
      <p:sp>
        <p:nvSpPr>
          <p:cNvPr id="258" name="Google Shape;258;p24"/>
          <p:cNvSpPr txBox="1"/>
          <p:nvPr/>
        </p:nvSpPr>
        <p:spPr>
          <a:xfrm>
            <a:off x="6667500" y="1871662"/>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Thiết kế đề cương:</a:t>
            </a:r>
            <a:r>
              <a:rPr b="0" i="0" lang="en-US" sz="1500" u="none" cap="none" strike="noStrike">
                <a:solidFill>
                  <a:srgbClr val="2D3748"/>
                </a:solidFill>
                <a:latin typeface="Nunito Sans"/>
                <a:ea typeface="Nunito Sans"/>
                <a:cs typeface="Nunito Sans"/>
                <a:sym typeface="Nunito Sans"/>
              </a:rPr>
              <a:t> Gợi ý mục tiêu học tập, tài liệu tham khảo cập nhật, phân bổ thời lượng các buổi học.</a:t>
            </a:r>
            <a:endParaRPr/>
          </a:p>
        </p:txBody>
      </p:sp>
      <p:sp>
        <p:nvSpPr>
          <p:cNvPr id="259" name="Google Shape;259;p24"/>
          <p:cNvSpPr txBox="1"/>
          <p:nvPr/>
        </p:nvSpPr>
        <p:spPr>
          <a:xfrm>
            <a:off x="6667500" y="26717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Phát triển nội dung:</a:t>
            </a:r>
            <a:r>
              <a:rPr b="0" i="0" lang="en-US" sz="1500" u="none" cap="none" strike="noStrike">
                <a:solidFill>
                  <a:srgbClr val="2D3748"/>
                </a:solidFill>
                <a:latin typeface="Nunito Sans"/>
                <a:ea typeface="Nunito Sans"/>
                <a:cs typeface="Nunito Sans"/>
                <a:sym typeface="Nunito Sans"/>
              </a:rPr>
              <a:t> Tìm kiếm ví dụ thực tế, sáng tạo các tình huống (Case study) kinh doanh/pháp lý/xã hội để sinh viên thảo luận.</a:t>
            </a:r>
            <a:endParaRPr/>
          </a:p>
        </p:txBody>
      </p:sp>
      <p:sp>
        <p:nvSpPr>
          <p:cNvPr id="260" name="Google Shape;260;p24"/>
          <p:cNvSpPr txBox="1"/>
          <p:nvPr/>
        </p:nvSpPr>
        <p:spPr>
          <a:xfrm>
            <a:off x="6667500" y="37766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Tạo công cụ kiểm tra:</a:t>
            </a:r>
            <a:r>
              <a:rPr b="0" i="0" lang="en-US" sz="1500" u="none" cap="none" strike="noStrike">
                <a:solidFill>
                  <a:srgbClr val="2D3748"/>
                </a:solidFill>
                <a:latin typeface="Nunito Sans"/>
                <a:ea typeface="Nunito Sans"/>
                <a:cs typeface="Nunito Sans"/>
                <a:sym typeface="Nunito Sans"/>
              </a:rPr>
              <a:t> Sinh câu hỏi trắc nghiệm đa dạng theo thang nhận thức Bloom (Nhớ, Hiểu, Vận dụng, Phân tích).</a:t>
            </a:r>
            <a:endParaRPr/>
          </a:p>
        </p:txBody>
      </p:sp>
      <p:sp>
        <p:nvSpPr>
          <p:cNvPr id="261" name="Google Shape;261;p24"/>
          <p:cNvSpPr txBox="1"/>
          <p:nvPr/>
        </p:nvSpPr>
        <p:spPr>
          <a:xfrm>
            <a:off x="6667500" y="4881562"/>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Cá nhân hóa học tập:</a:t>
            </a:r>
            <a:r>
              <a:rPr b="0" i="0" lang="en-US" sz="1500" u="none" cap="none" strike="noStrike">
                <a:solidFill>
                  <a:srgbClr val="2D3748"/>
                </a:solidFill>
                <a:latin typeface="Nunito Sans"/>
                <a:ea typeface="Nunito Sans"/>
                <a:cs typeface="Nunito Sans"/>
                <a:sym typeface="Nunito Sans"/>
              </a:rPr>
              <a:t> Yêu cầu AI viết lại một khái niệm phức tạp thành 3 phiên bản: cho người mới, cho sinh viên năm 3, và chuyên sâu.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image.png" id="266" name="Google Shape;266;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7" name="Google Shape;267;p25"/>
          <p:cNvSpPr/>
          <p:nvPr/>
        </p:nvSpPr>
        <p:spPr>
          <a:xfrm>
            <a:off x="5381625" y="2431702"/>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5"/>
          <p:cNvSpPr txBox="1"/>
          <p:nvPr/>
        </p:nvSpPr>
        <p:spPr>
          <a:xfrm>
            <a:off x="295275" y="2755552"/>
            <a:ext cx="11601450"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7FAFC"/>
                </a:solidFill>
                <a:latin typeface="Montserrat"/>
                <a:ea typeface="Montserrat"/>
                <a:cs typeface="Montserrat"/>
                <a:sym typeface="Montserrat"/>
              </a:rPr>
              <a:t>Phần 5: Chọn "Vũ Khí" Phù Hợp</a:t>
            </a:r>
            <a:endParaRPr/>
          </a:p>
        </p:txBody>
      </p:sp>
      <p:sp>
        <p:nvSpPr>
          <p:cNvPr id="269" name="Google Shape;269;p25"/>
          <p:cNvSpPr txBox="1"/>
          <p:nvPr/>
        </p:nvSpPr>
        <p:spPr>
          <a:xfrm>
            <a:off x="571500" y="3593752"/>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a:ea typeface="Nunito Sans"/>
                <a:cs typeface="Nunito Sans"/>
                <a:sym typeface="Nunito Sans"/>
              </a:rPr>
              <a:t>Dùng AI nào cho việc gì?</a:t>
            </a:r>
            <a:endParaRPr/>
          </a:p>
        </p:txBody>
      </p:sp>
      <p:sp>
        <p:nvSpPr>
          <p:cNvPr id="270" name="Google Shape;270;p25"/>
          <p:cNvSpPr/>
          <p:nvPr/>
        </p:nvSpPr>
        <p:spPr>
          <a:xfrm>
            <a:off x="5381625" y="4388048"/>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image.png" id="275" name="Google Shape;275;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6" name="Google Shape;276;p26"/>
          <p:cNvPicPr preferRelativeResize="0"/>
          <p:nvPr/>
        </p:nvPicPr>
        <p:blipFill rotWithShape="1">
          <a:blip r:embed="rId4">
            <a:alphaModFix/>
          </a:blip>
          <a:srcRect b="0" l="0" r="0" t="0"/>
          <a:stretch/>
        </p:blipFill>
        <p:spPr>
          <a:xfrm>
            <a:off x="6334125" y="1476375"/>
            <a:ext cx="5286375" cy="3333750"/>
          </a:xfrm>
          <a:prstGeom prst="rect">
            <a:avLst/>
          </a:prstGeom>
          <a:noFill/>
          <a:ln>
            <a:noFill/>
          </a:ln>
        </p:spPr>
      </p:pic>
      <p:sp>
        <p:nvSpPr>
          <p:cNvPr id="277" name="Google Shape;277;p26"/>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Bản Đồ Công Cụ AI Phổ Biến Hiện Nay</a:t>
            </a:r>
            <a:endParaRPr/>
          </a:p>
        </p:txBody>
      </p:sp>
      <p:sp>
        <p:nvSpPr>
          <p:cNvPr id="278" name="Google Shape;278;p26"/>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6"/>
          <p:cNvSpPr/>
          <p:nvPr/>
        </p:nvSpPr>
        <p:spPr>
          <a:xfrm>
            <a:off x="571500" y="1476375"/>
            <a:ext cx="5286375" cy="553402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0" name="Google Shape;280;p26"/>
          <p:cNvGraphicFramePr/>
          <p:nvPr/>
        </p:nvGraphicFramePr>
        <p:xfrm>
          <a:off x="571500" y="1476375"/>
          <a:ext cx="3000000" cy="3000000"/>
        </p:xfrm>
        <a:graphic>
          <a:graphicData uri="http://schemas.openxmlformats.org/drawingml/2006/table">
            <a:tbl>
              <a:tblPr bandRow="1" firstRow="1">
                <a:noFill/>
                <a:tableStyleId>{06F8257E-3AFC-4229-A639-6F7574B332A6}</a:tableStyleId>
              </a:tblPr>
              <a:tblGrid>
                <a:gridCol w="2402825"/>
                <a:gridCol w="2883550"/>
              </a:tblGrid>
              <a:tr h="922325">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Công cụ</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Nunito Sans"/>
                          <a:ea typeface="Nunito Sans"/>
                          <a:cs typeface="Nunito Sans"/>
                          <a:sym typeface="Nunito Sans"/>
                        </a:rPr>
                        <a:t>Điểm mạnh / Phù hợp nhất cho...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B6CB0"/>
                    </a:solidFill>
                  </a:tcPr>
                </a:tc>
              </a:tr>
              <a:tr h="922325">
                <a:tc>
                  <a:txBody>
                    <a:bodyPr/>
                    <a:lstStyle/>
                    <a:p>
                      <a:pPr indent="0" lvl="0" marL="0" marR="0" rtl="0" algn="l">
                        <a:spcBef>
                          <a:spcPts val="0"/>
                        </a:spcBef>
                        <a:spcAft>
                          <a:spcPts val="0"/>
                        </a:spcAft>
                        <a:buNone/>
                      </a:pPr>
                      <a:r>
                        <a:rPr b="1" i="0" lang="en-US" sz="1200" u="none" cap="none" strike="noStrike">
                          <a:solidFill>
                            <a:srgbClr val="2D3748"/>
                          </a:solidFill>
                          <a:latin typeface="Nunito Sans"/>
                          <a:ea typeface="Nunito Sans"/>
                          <a:cs typeface="Nunito Sans"/>
                          <a:sym typeface="Nunito Sans"/>
                        </a:rPr>
                        <a:t>ChatGPT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Toàn năng: Viết văn, phân tích dữ liệu, xử lý tài liệu đa định dạng, tạo GPT tùy chỉnh (Custom GPTs).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2325">
                <a:tc>
                  <a:txBody>
                    <a:bodyPr/>
                    <a:lstStyle/>
                    <a:p>
                      <a:pPr indent="0" lvl="0" marL="0" marR="0" rtl="0" algn="l">
                        <a:spcBef>
                          <a:spcPts val="0"/>
                        </a:spcBef>
                        <a:spcAft>
                          <a:spcPts val="0"/>
                        </a:spcAft>
                        <a:buNone/>
                      </a:pPr>
                      <a:r>
                        <a:rPr b="1" i="0" lang="en-US" sz="1200" u="none" cap="none" strike="noStrike">
                          <a:solidFill>
                            <a:srgbClr val="2D3748"/>
                          </a:solidFill>
                          <a:latin typeface="Nunito Sans"/>
                          <a:ea typeface="Nunito Sans"/>
                          <a:cs typeface="Nunito Sans"/>
                          <a:sym typeface="Nunito Sans"/>
                        </a:rPr>
                        <a:t>Claude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Văn phong tự nhiên, tiếng Việt cực tốt, xử lý tài liệu siêu dài, tư duy logic cao (phù hợp viết sách, báo cáo).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2325">
                <a:tc>
                  <a:txBody>
                    <a:bodyPr/>
                    <a:lstStyle/>
                    <a:p>
                      <a:pPr indent="0" lvl="0" marL="0" marR="0" rtl="0" algn="l">
                        <a:spcBef>
                          <a:spcPts val="0"/>
                        </a:spcBef>
                        <a:spcAft>
                          <a:spcPts val="0"/>
                        </a:spcAft>
                        <a:buNone/>
                      </a:pPr>
                      <a:r>
                        <a:rPr b="1" i="0" lang="en-US" sz="1200" u="none" cap="none" strike="noStrike">
                          <a:solidFill>
                            <a:srgbClr val="2D3748"/>
                          </a:solidFill>
                          <a:latin typeface="Nunito Sans"/>
                          <a:ea typeface="Nunito Sans"/>
                          <a:cs typeface="Nunito Sans"/>
                          <a:sym typeface="Nunito Sans"/>
                        </a:rPr>
                        <a:t>Gemini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Tích hợp sâu hệ sinh thái Google (Docs, Gmail, Drive). Tìm kiếm thông tin cập nhật realtime.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2325">
                <a:tc>
                  <a:txBody>
                    <a:bodyPr/>
                    <a:lstStyle/>
                    <a:p>
                      <a:pPr indent="0" lvl="0" marL="0" marR="0" rtl="0" algn="l">
                        <a:spcBef>
                          <a:spcPts val="0"/>
                        </a:spcBef>
                        <a:spcAft>
                          <a:spcPts val="0"/>
                        </a:spcAft>
                        <a:buNone/>
                      </a:pPr>
                      <a:r>
                        <a:rPr b="1" i="0" lang="en-US" sz="1200" u="none" cap="none" strike="noStrike">
                          <a:solidFill>
                            <a:srgbClr val="2D3748"/>
                          </a:solidFill>
                          <a:latin typeface="Nunito Sans"/>
                          <a:ea typeface="Nunito Sans"/>
                          <a:cs typeface="Nunito Sans"/>
                          <a:sym typeface="Nunito Sans"/>
                        </a:rPr>
                        <a:t>MS Copilot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Vua văn phòng: Nằm sẵn trong Word, Excel, PowerPoint. An toàn dữ liệu nếu dùng tài khoản trường.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2350">
                <a:tc>
                  <a:txBody>
                    <a:bodyPr/>
                    <a:lstStyle/>
                    <a:p>
                      <a:pPr indent="0" lvl="0" marL="0" marR="0" rtl="0" algn="l">
                        <a:spcBef>
                          <a:spcPts val="0"/>
                        </a:spcBef>
                        <a:spcAft>
                          <a:spcPts val="0"/>
                        </a:spcAft>
                        <a:buNone/>
                      </a:pPr>
                      <a:r>
                        <a:rPr b="1" i="0" lang="en-US" sz="1200" u="none" cap="none" strike="noStrike">
                          <a:solidFill>
                            <a:srgbClr val="2D3748"/>
                          </a:solidFill>
                          <a:latin typeface="Nunito Sans"/>
                          <a:ea typeface="Nunito Sans"/>
                          <a:cs typeface="Nunito Sans"/>
                          <a:sym typeface="Nunito Sans"/>
                        </a:rPr>
                        <a:t>NotebookLM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D3748"/>
                          </a:solidFill>
                          <a:latin typeface="Nunito Sans"/>
                          <a:ea typeface="Nunito Sans"/>
                          <a:cs typeface="Nunito Sans"/>
                          <a:sym typeface="Nunito Sans"/>
                        </a:rPr>
                        <a:t>Chuyên gia hỏi đáp tài liệu: Tải lên giáo trình của bạn và AI chỉ trả lời dựa trên đó (không bịa). Tự tạo Audio.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81" name="Google Shape;281;p26"/>
          <p:cNvSpPr/>
          <p:nvPr/>
        </p:nvSpPr>
        <p:spPr>
          <a:xfrm>
            <a:off x="571500" y="1966912"/>
            <a:ext cx="24028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6"/>
          <p:cNvSpPr/>
          <p:nvPr/>
        </p:nvSpPr>
        <p:spPr>
          <a:xfrm>
            <a:off x="2974330" y="1966912"/>
            <a:ext cx="28835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3" name="Google Shape;283;p26"/>
          <p:cNvPicPr preferRelativeResize="0"/>
          <p:nvPr/>
        </p:nvPicPr>
        <p:blipFill rotWithShape="1">
          <a:blip r:embed="rId5">
            <a:alphaModFix/>
          </a:blip>
          <a:srcRect b="0" l="0" r="0" t="0"/>
          <a:stretch/>
        </p:blipFill>
        <p:spPr>
          <a:xfrm>
            <a:off x="6334125" y="1476375"/>
            <a:ext cx="5286375" cy="3333750"/>
          </a:xfrm>
          <a:prstGeom prst="rect">
            <a:avLst/>
          </a:prstGeom>
          <a:noFill/>
          <a:ln>
            <a:noFill/>
          </a:ln>
        </p:spPr>
      </p:pic>
      <p:sp>
        <p:nvSpPr>
          <p:cNvPr id="284" name="Google Shape;284;p26"/>
          <p:cNvSpPr/>
          <p:nvPr/>
        </p:nvSpPr>
        <p:spPr>
          <a:xfrm>
            <a:off x="571500" y="2890837"/>
            <a:ext cx="24028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6"/>
          <p:cNvSpPr/>
          <p:nvPr/>
        </p:nvSpPr>
        <p:spPr>
          <a:xfrm>
            <a:off x="2974330" y="2890837"/>
            <a:ext cx="28835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6"/>
          <p:cNvSpPr/>
          <p:nvPr/>
        </p:nvSpPr>
        <p:spPr>
          <a:xfrm>
            <a:off x="571500" y="4024312"/>
            <a:ext cx="24028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26"/>
          <p:cNvSpPr/>
          <p:nvPr/>
        </p:nvSpPr>
        <p:spPr>
          <a:xfrm>
            <a:off x="2974330" y="4024312"/>
            <a:ext cx="28835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26"/>
          <p:cNvSpPr/>
          <p:nvPr/>
        </p:nvSpPr>
        <p:spPr>
          <a:xfrm>
            <a:off x="571500" y="4948237"/>
            <a:ext cx="24028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26"/>
          <p:cNvSpPr/>
          <p:nvPr/>
        </p:nvSpPr>
        <p:spPr>
          <a:xfrm>
            <a:off x="2974330" y="4948237"/>
            <a:ext cx="28835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6"/>
          <p:cNvSpPr/>
          <p:nvPr/>
        </p:nvSpPr>
        <p:spPr>
          <a:xfrm>
            <a:off x="571500" y="5872162"/>
            <a:ext cx="24028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6"/>
          <p:cNvSpPr/>
          <p:nvPr/>
        </p:nvSpPr>
        <p:spPr>
          <a:xfrm>
            <a:off x="2974330" y="5872162"/>
            <a:ext cx="28835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descr="image.png" id="296" name="Google Shape;296;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7" name="Google Shape;297;p27"/>
          <p:cNvSpPr/>
          <p:nvPr/>
        </p:nvSpPr>
        <p:spPr>
          <a:xfrm>
            <a:off x="5381625" y="2431702"/>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7"/>
          <p:cNvSpPr txBox="1"/>
          <p:nvPr/>
        </p:nvSpPr>
        <p:spPr>
          <a:xfrm>
            <a:off x="295275" y="2755552"/>
            <a:ext cx="11601450"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7FAFC"/>
                </a:solidFill>
                <a:latin typeface="Montserrat"/>
                <a:ea typeface="Montserrat"/>
                <a:cs typeface="Montserrat"/>
                <a:sym typeface="Montserrat"/>
              </a:rPr>
              <a:t>Phần 6: AI Agent &amp; Skill</a:t>
            </a:r>
            <a:endParaRPr/>
          </a:p>
        </p:txBody>
      </p:sp>
      <p:sp>
        <p:nvSpPr>
          <p:cNvPr id="299" name="Google Shape;299;p27"/>
          <p:cNvSpPr txBox="1"/>
          <p:nvPr/>
        </p:nvSpPr>
        <p:spPr>
          <a:xfrm>
            <a:off x="571500" y="3593752"/>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a:ea typeface="Nunito Sans"/>
                <a:cs typeface="Nunito Sans"/>
                <a:sym typeface="Nunito Sans"/>
              </a:rPr>
              <a:t>Biến AI thành "trợ lý làm theo quy trình của mình"</a:t>
            </a:r>
            <a:endParaRPr/>
          </a:p>
        </p:txBody>
      </p:sp>
      <p:sp>
        <p:nvSpPr>
          <p:cNvPr id="300" name="Google Shape;300;p27"/>
          <p:cNvSpPr/>
          <p:nvPr/>
        </p:nvSpPr>
        <p:spPr>
          <a:xfrm>
            <a:off x="5381625" y="4388048"/>
            <a:ext cx="1428750" cy="38100"/>
          </a:xfrm>
          <a:prstGeom prst="rect">
            <a:avLst/>
          </a:prstGeom>
          <a:solidFill>
            <a:srgbClr val="E53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image.png" id="305" name="Google Shape;305;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6" name="Google Shape;306;p28"/>
          <p:cNvPicPr preferRelativeResize="0"/>
          <p:nvPr/>
        </p:nvPicPr>
        <p:blipFill rotWithShape="1">
          <a:blip r:embed="rId4">
            <a:alphaModFix/>
          </a:blip>
          <a:srcRect b="0" l="0" r="0" t="0"/>
          <a:stretch/>
        </p:blipFill>
        <p:spPr>
          <a:xfrm>
            <a:off x="571500" y="3067050"/>
            <a:ext cx="5286375" cy="3038475"/>
          </a:xfrm>
          <a:prstGeom prst="rect">
            <a:avLst/>
          </a:prstGeom>
          <a:noFill/>
          <a:ln>
            <a:noFill/>
          </a:ln>
        </p:spPr>
      </p:pic>
      <p:pic>
        <p:nvPicPr>
          <p:cNvPr descr="image.png" id="307" name="Google Shape;307;p28"/>
          <p:cNvPicPr preferRelativeResize="0"/>
          <p:nvPr/>
        </p:nvPicPr>
        <p:blipFill rotWithShape="1">
          <a:blip r:embed="rId5">
            <a:alphaModFix/>
          </a:blip>
          <a:srcRect b="0" l="0" r="0" t="0"/>
          <a:stretch/>
        </p:blipFill>
        <p:spPr>
          <a:xfrm>
            <a:off x="6334125" y="1562100"/>
            <a:ext cx="5286375" cy="3810000"/>
          </a:xfrm>
          <a:prstGeom prst="rect">
            <a:avLst/>
          </a:prstGeom>
          <a:noFill/>
          <a:ln>
            <a:noFill/>
          </a:ln>
        </p:spPr>
      </p:pic>
      <p:sp>
        <p:nvSpPr>
          <p:cNvPr id="308" name="Google Shape;308;p28"/>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Nâng Cấp: Từ Hỏi-Đáp Đến Agent (Tác Tử)</a:t>
            </a:r>
            <a:endParaRPr/>
          </a:p>
        </p:txBody>
      </p:sp>
      <p:sp>
        <p:nvSpPr>
          <p:cNvPr id="309" name="Google Shape;309;p28"/>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8"/>
          <p:cNvSpPr txBox="1"/>
          <p:nvPr/>
        </p:nvSpPr>
        <p:spPr>
          <a:xfrm>
            <a:off x="571500" y="1562100"/>
            <a:ext cx="52863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AI thông thường:</a:t>
            </a:r>
            <a:r>
              <a:rPr b="0" i="0" lang="en-US" sz="1500" u="none" cap="none" strike="noStrike">
                <a:solidFill>
                  <a:srgbClr val="2D3748"/>
                </a:solidFill>
                <a:latin typeface="Nunito Sans"/>
                <a:ea typeface="Nunito Sans"/>
                <a:cs typeface="Nunito Sans"/>
                <a:sym typeface="Nunito Sans"/>
              </a:rPr>
              <a:t> Bạn hỏi 1 câu -&gt; AI trả lời 1 câu.</a:t>
            </a:r>
            <a:endParaRPr/>
          </a:p>
        </p:txBody>
      </p:sp>
      <p:sp>
        <p:nvSpPr>
          <p:cNvPr id="311" name="Google Shape;311;p28"/>
          <p:cNvSpPr txBox="1"/>
          <p:nvPr/>
        </p:nvSpPr>
        <p:spPr>
          <a:xfrm>
            <a:off x="571500" y="2009775"/>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AI Agent:</a:t>
            </a:r>
            <a:r>
              <a:rPr b="0" i="0" lang="en-US" sz="1500" u="none" cap="none" strike="noStrike">
                <a:solidFill>
                  <a:srgbClr val="2D3748"/>
                </a:solidFill>
                <a:latin typeface="Nunito Sans"/>
                <a:ea typeface="Nunito Sans"/>
                <a:cs typeface="Nunito Sans"/>
                <a:sym typeface="Nunito Sans"/>
              </a:rPr>
              <a:t> AI có khả năng nhận một mục tiêu lớn, tự lên kế hoạch các bước nhỏ, sử dụng công cụ (như tìm kiếm web, chạy code) để hoàn thành quy trình đó một cách tự chủ hơn.</a:t>
            </a:r>
            <a:endParaRPr/>
          </a:p>
        </p:txBody>
      </p:sp>
      <p:sp>
        <p:nvSpPr>
          <p:cNvPr id="312" name="Google Shape;312;p28"/>
          <p:cNvSpPr txBox="1"/>
          <p:nvPr/>
        </p:nvSpPr>
        <p:spPr>
          <a:xfrm>
            <a:off x="857250" y="3305175"/>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2D3748"/>
                </a:solidFill>
                <a:latin typeface="Nunito Sans"/>
                <a:ea typeface="Nunito Sans"/>
                <a:cs typeface="Nunito Sans"/>
                <a:sym typeface="Nunito Sans"/>
              </a:rPr>
              <a:t>Ví dụ thực tế:</a:t>
            </a:r>
            <a:endParaRPr/>
          </a:p>
        </p:txBody>
      </p:sp>
      <p:sp>
        <p:nvSpPr>
          <p:cNvPr id="313" name="Google Shape;313;p28"/>
          <p:cNvSpPr txBox="1"/>
          <p:nvPr/>
        </p:nvSpPr>
        <p:spPr>
          <a:xfrm>
            <a:off x="857250" y="3752850"/>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Bình thường:</a:t>
            </a:r>
            <a:r>
              <a:rPr b="0" i="0" lang="en-US" sz="1500" u="none" cap="none" strike="noStrike">
                <a:solidFill>
                  <a:srgbClr val="2D3748"/>
                </a:solidFill>
                <a:latin typeface="Nunito Sans"/>
                <a:ea typeface="Nunito Sans"/>
                <a:cs typeface="Nunito Sans"/>
                <a:sym typeface="Nunito Sans"/>
              </a:rPr>
              <a:t> "Viết cho tôi email nhắc sinh viên đóng học phí."</a:t>
            </a:r>
            <a:endParaRPr/>
          </a:p>
        </p:txBody>
      </p:sp>
      <p:sp>
        <p:nvSpPr>
          <p:cNvPr id="314" name="Google Shape;314;p28"/>
          <p:cNvSpPr txBox="1"/>
          <p:nvPr/>
        </p:nvSpPr>
        <p:spPr>
          <a:xfrm>
            <a:off x="857250" y="4505325"/>
            <a:ext cx="47625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Tư duy Agent:</a:t>
            </a:r>
            <a:r>
              <a:rPr b="0" i="0" lang="en-US" sz="1500" u="none" cap="none" strike="noStrike">
                <a:solidFill>
                  <a:srgbClr val="2D3748"/>
                </a:solidFill>
                <a:latin typeface="Nunito Sans"/>
                <a:ea typeface="Nunito Sans"/>
                <a:cs typeface="Nunito Sans"/>
                <a:sym typeface="Nunito Sans"/>
              </a:rPr>
              <a:t> "Mỗi sáng thứ 2, đọc file Excel danh sách nợ phí. Soạn email tự động cho từng SV, nhắc nhở hạn chót, đính kèm link thanh toán. Lập báo cáo SV chưa thanh toán gửi cho phòng."</a:t>
            </a:r>
            <a:endParaRPr/>
          </a:p>
        </p:txBody>
      </p:sp>
      <p:pic>
        <p:nvPicPr>
          <p:cNvPr descr="image.png" id="315" name="Google Shape;315;p28"/>
          <p:cNvPicPr preferRelativeResize="0"/>
          <p:nvPr/>
        </p:nvPicPr>
        <p:blipFill rotWithShape="1">
          <a:blip r:embed="rId6">
            <a:alphaModFix/>
          </a:blip>
          <a:srcRect b="0" l="0" r="0" t="0"/>
          <a:stretch/>
        </p:blipFill>
        <p:spPr>
          <a:xfrm>
            <a:off x="6334125" y="1562100"/>
            <a:ext cx="5286375" cy="381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image.png" id="320" name="Google Shape;320;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1" name="Google Shape;321;p29"/>
          <p:cNvPicPr preferRelativeResize="0"/>
          <p:nvPr/>
        </p:nvPicPr>
        <p:blipFill rotWithShape="1">
          <a:blip r:embed="rId4">
            <a:alphaModFix/>
          </a:blip>
          <a:srcRect b="0" l="0" r="0" t="0"/>
          <a:stretch/>
        </p:blipFill>
        <p:spPr>
          <a:xfrm>
            <a:off x="571500" y="2571750"/>
            <a:ext cx="5381625" cy="3657600"/>
          </a:xfrm>
          <a:prstGeom prst="rect">
            <a:avLst/>
          </a:prstGeom>
          <a:noFill/>
          <a:ln>
            <a:noFill/>
          </a:ln>
        </p:spPr>
      </p:pic>
      <p:pic>
        <p:nvPicPr>
          <p:cNvPr descr="image.png" id="322" name="Google Shape;322;p29"/>
          <p:cNvPicPr preferRelativeResize="0"/>
          <p:nvPr/>
        </p:nvPicPr>
        <p:blipFill rotWithShape="1">
          <a:blip r:embed="rId4">
            <a:alphaModFix/>
          </a:blip>
          <a:srcRect b="0" l="0" r="0" t="0"/>
          <a:stretch/>
        </p:blipFill>
        <p:spPr>
          <a:xfrm>
            <a:off x="6238875" y="2571750"/>
            <a:ext cx="5381625" cy="3657600"/>
          </a:xfrm>
          <a:prstGeom prst="rect">
            <a:avLst/>
          </a:prstGeom>
          <a:noFill/>
          <a:ln>
            <a:noFill/>
          </a:ln>
        </p:spPr>
      </p:pic>
      <p:pic>
        <p:nvPicPr>
          <p:cNvPr descr="image.png" id="323" name="Google Shape;323;p29"/>
          <p:cNvPicPr preferRelativeResize="0"/>
          <p:nvPr/>
        </p:nvPicPr>
        <p:blipFill rotWithShape="1">
          <a:blip r:embed="rId5">
            <a:alphaModFix/>
          </a:blip>
          <a:srcRect b="0" l="0" r="0" t="0"/>
          <a:stretch/>
        </p:blipFill>
        <p:spPr>
          <a:xfrm>
            <a:off x="857250" y="3457575"/>
            <a:ext cx="4810125" cy="2486025"/>
          </a:xfrm>
          <a:prstGeom prst="rect">
            <a:avLst/>
          </a:prstGeom>
          <a:noFill/>
          <a:ln>
            <a:noFill/>
          </a:ln>
        </p:spPr>
      </p:pic>
      <p:pic>
        <p:nvPicPr>
          <p:cNvPr descr="image.png" id="324" name="Google Shape;324;p29"/>
          <p:cNvPicPr preferRelativeResize="0"/>
          <p:nvPr/>
        </p:nvPicPr>
        <p:blipFill rotWithShape="1">
          <a:blip r:embed="rId6">
            <a:alphaModFix/>
          </a:blip>
          <a:srcRect b="0" l="0" r="0" t="0"/>
          <a:stretch/>
        </p:blipFill>
        <p:spPr>
          <a:xfrm>
            <a:off x="6524625" y="4543425"/>
            <a:ext cx="4810125" cy="1228725"/>
          </a:xfrm>
          <a:prstGeom prst="rect">
            <a:avLst/>
          </a:prstGeom>
          <a:noFill/>
          <a:ln>
            <a:noFill/>
          </a:ln>
        </p:spPr>
      </p:pic>
      <p:sp>
        <p:nvSpPr>
          <p:cNvPr id="325" name="Google Shape;325;p29"/>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Huấn Luyện Trợ Lý Thông Qua "Skill"</a:t>
            </a:r>
            <a:endParaRPr/>
          </a:p>
        </p:txBody>
      </p:sp>
      <p:sp>
        <p:nvSpPr>
          <p:cNvPr id="326" name="Google Shape;326;p29"/>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9"/>
          <p:cNvSpPr txBox="1"/>
          <p:nvPr/>
        </p:nvSpPr>
        <p:spPr>
          <a:xfrm>
            <a:off x="571500" y="1628775"/>
            <a:ext cx="11049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2D3748"/>
                </a:solidFill>
                <a:latin typeface="Nunito Sans"/>
                <a:ea typeface="Nunito Sans"/>
                <a:cs typeface="Nunito Sans"/>
                <a:sym typeface="Nunito Sans"/>
              </a:rPr>
              <a:t>Skill (Kỹ năng):</a:t>
            </a:r>
            <a:r>
              <a:rPr b="0" i="0" lang="en-US" sz="1500" u="none" cap="none" strike="noStrike">
                <a:solidFill>
                  <a:srgbClr val="2D3748"/>
                </a:solidFill>
                <a:latin typeface="Nunito Sans"/>
                <a:ea typeface="Nunito Sans"/>
                <a:cs typeface="Nunito Sans"/>
                <a:sym typeface="Nunito Sans"/>
              </a:rPr>
              <a:t> Là một bộ hướng dẫn đóng gói sẵn. Bạn dạy AI quy trình chuẩn của mình 1 lần, sau đó chỉ cần gọi tên Skill và đưa nguyên liệu.</a:t>
            </a:r>
            <a:endParaRPr/>
          </a:p>
        </p:txBody>
      </p:sp>
      <p:sp>
        <p:nvSpPr>
          <p:cNvPr id="328" name="Google Shape;328;p29"/>
          <p:cNvSpPr txBox="1"/>
          <p:nvPr/>
        </p:nvSpPr>
        <p:spPr>
          <a:xfrm>
            <a:off x="736996" y="2895600"/>
            <a:ext cx="5050631"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A365D"/>
                </a:solidFill>
                <a:latin typeface="Montserrat SemiBold"/>
                <a:ea typeface="Montserrat SemiBold"/>
                <a:cs typeface="Montserrat SemiBold"/>
                <a:sym typeface="Montserrat SemiBold"/>
              </a:rPr>
              <a:t>Công thức tạo Skill (Prompt mẫu)</a:t>
            </a:r>
            <a:endParaRPr/>
          </a:p>
        </p:txBody>
      </p:sp>
      <p:sp>
        <p:nvSpPr>
          <p:cNvPr id="329" name="Google Shape;329;p29"/>
          <p:cNvSpPr txBox="1"/>
          <p:nvPr/>
        </p:nvSpPr>
        <p:spPr>
          <a:xfrm>
            <a:off x="6404371" y="3067050"/>
            <a:ext cx="5050631"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E53E3E"/>
                </a:solidFill>
                <a:latin typeface="Montserrat SemiBold"/>
                <a:ea typeface="Montserrat SemiBold"/>
                <a:cs typeface="Montserrat SemiBold"/>
                <a:sym typeface="Montserrat SemiBold"/>
              </a:rPr>
              <a:t>Cách sử dụng</a:t>
            </a:r>
            <a:endParaRPr/>
          </a:p>
        </p:txBody>
      </p:sp>
      <p:sp>
        <p:nvSpPr>
          <p:cNvPr id="330" name="Google Shape;330;p29"/>
          <p:cNvSpPr txBox="1"/>
          <p:nvPr/>
        </p:nvSpPr>
        <p:spPr>
          <a:xfrm>
            <a:off x="6524625" y="3486150"/>
            <a:ext cx="4810125"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Sau khi nạp "Skill" này cho AI (VD: thông qua Custom Instructions của ChatGPT), mỗi lần soạn bài, Giảng viên chỉ cần gõ:</a:t>
            </a:r>
            <a:endParaRPr/>
          </a:p>
        </p:txBody>
      </p:sp>
      <p:sp>
        <p:nvSpPr>
          <p:cNvPr id="331" name="Google Shape;331;p29"/>
          <p:cNvSpPr txBox="1"/>
          <p:nvPr/>
        </p:nvSpPr>
        <p:spPr>
          <a:xfrm>
            <a:off x="6810375" y="4781550"/>
            <a:ext cx="42862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1" lang="en-US" sz="1500" u="none" cap="none" strike="noStrike">
                <a:solidFill>
                  <a:srgbClr val="2D3748"/>
                </a:solidFill>
                <a:latin typeface="Nunito Sans"/>
                <a:ea typeface="Nunito Sans"/>
                <a:cs typeface="Nunito Sans"/>
                <a:sym typeface="Nunito Sans"/>
              </a:rPr>
              <a:t>"Chạy Skill [Tạo Kế hoạch bài giảng] cho bài: Nguyên lý Marketing hỗn hợp."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image.png" id="336" name="Google Shape;336;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7" name="Google Shape;337;p30"/>
          <p:cNvPicPr preferRelativeResize="0"/>
          <p:nvPr/>
        </p:nvPicPr>
        <p:blipFill rotWithShape="1">
          <a:blip r:embed="rId4">
            <a:alphaModFix/>
          </a:blip>
          <a:srcRect b="0" l="0" r="0" t="0"/>
          <a:stretch/>
        </p:blipFill>
        <p:spPr>
          <a:xfrm>
            <a:off x="6334125" y="1476375"/>
            <a:ext cx="5286375" cy="3810000"/>
          </a:xfrm>
          <a:prstGeom prst="rect">
            <a:avLst/>
          </a:prstGeom>
          <a:noFill/>
          <a:ln>
            <a:noFill/>
          </a:ln>
        </p:spPr>
      </p:pic>
      <p:sp>
        <p:nvSpPr>
          <p:cNvPr id="338" name="Google Shape;338;p30"/>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Tổng Kết &amp; Bước Tiếp Theo</a:t>
            </a:r>
            <a:endParaRPr/>
          </a:p>
        </p:txBody>
      </p:sp>
      <p:sp>
        <p:nvSpPr>
          <p:cNvPr id="339" name="Google Shape;339;p30"/>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30"/>
          <p:cNvSpPr txBox="1"/>
          <p:nvPr/>
        </p:nvSpPr>
        <p:spPr>
          <a:xfrm>
            <a:off x="571500" y="1476375"/>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2B6CB0"/>
                </a:solidFill>
                <a:latin typeface="Montserrat SemiBold"/>
                <a:ea typeface="Montserrat SemiBold"/>
                <a:cs typeface="Montserrat SemiBold"/>
                <a:sym typeface="Montserrat SemiBold"/>
              </a:rPr>
              <a:t>7 Nguyên Tắc Vàng</a:t>
            </a:r>
            <a:endParaRPr/>
          </a:p>
        </p:txBody>
      </p:sp>
      <p:sp>
        <p:nvSpPr>
          <p:cNvPr id="341" name="Google Shape;341;p30"/>
          <p:cNvSpPr txBox="1"/>
          <p:nvPr/>
        </p:nvSpPr>
        <p:spPr>
          <a:xfrm>
            <a:off x="571500" y="5505450"/>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E53E3E"/>
                </a:solidFill>
                <a:latin typeface="Montserrat SemiBold"/>
                <a:ea typeface="Montserrat SemiBold"/>
                <a:cs typeface="Montserrat SemiBold"/>
                <a:sym typeface="Montserrat SemiBold"/>
              </a:rPr>
              <a:t>Bài tập về nhà:</a:t>
            </a:r>
            <a:endParaRPr/>
          </a:p>
        </p:txBody>
      </p:sp>
      <p:sp>
        <p:nvSpPr>
          <p:cNvPr id="342" name="Google Shape;342;p30"/>
          <p:cNvSpPr txBox="1"/>
          <p:nvPr/>
        </p:nvSpPr>
        <p:spPr>
          <a:xfrm>
            <a:off x="571500" y="5972175"/>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Hãy chọn ra </a:t>
            </a:r>
            <a:r>
              <a:rPr b="1" i="0" lang="en-US" sz="1500" u="none" cap="none" strike="noStrike">
                <a:solidFill>
                  <a:srgbClr val="2D3748"/>
                </a:solidFill>
                <a:latin typeface="Nunito Sans"/>
                <a:ea typeface="Nunito Sans"/>
                <a:cs typeface="Nunito Sans"/>
                <a:sym typeface="Nunito Sans"/>
              </a:rPr>
              <a:t>3 công việc lặp lại hàng tuần</a:t>
            </a:r>
            <a:r>
              <a:rPr b="0" i="0" lang="en-US" sz="1500" u="none" cap="none" strike="noStrike">
                <a:solidFill>
                  <a:srgbClr val="2D3748"/>
                </a:solidFill>
                <a:latin typeface="Nunito Sans"/>
                <a:ea typeface="Nunito Sans"/>
                <a:cs typeface="Nunito Sans"/>
                <a:sym typeface="Nunito Sans"/>
              </a:rPr>
              <a:t> của bạn và thử áp dụng công thức Prompt 6 phần để AI làm giúp.</a:t>
            </a:r>
            <a:endParaRPr/>
          </a:p>
        </p:txBody>
      </p:sp>
      <p:sp>
        <p:nvSpPr>
          <p:cNvPr id="343" name="Google Shape;343;p30"/>
          <p:cNvSpPr txBox="1"/>
          <p:nvPr/>
        </p:nvSpPr>
        <p:spPr>
          <a:xfrm>
            <a:off x="600075" y="19431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1.</a:t>
            </a:r>
            <a:endParaRPr/>
          </a:p>
        </p:txBody>
      </p:sp>
      <p:sp>
        <p:nvSpPr>
          <p:cNvPr id="344" name="Google Shape;344;p30"/>
          <p:cNvSpPr txBox="1"/>
          <p:nvPr/>
        </p:nvSpPr>
        <p:spPr>
          <a:xfrm>
            <a:off x="1095375" y="19431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Rõ vai trò.</a:t>
            </a:r>
            <a:endParaRPr/>
          </a:p>
        </p:txBody>
      </p:sp>
      <p:sp>
        <p:nvSpPr>
          <p:cNvPr id="345" name="Google Shape;345;p30"/>
          <p:cNvSpPr txBox="1"/>
          <p:nvPr/>
        </p:nvSpPr>
        <p:spPr>
          <a:xfrm>
            <a:off x="600075" y="24384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2.</a:t>
            </a:r>
            <a:endParaRPr/>
          </a:p>
        </p:txBody>
      </p:sp>
      <p:sp>
        <p:nvSpPr>
          <p:cNvPr id="346" name="Google Shape;346;p30"/>
          <p:cNvSpPr txBox="1"/>
          <p:nvPr/>
        </p:nvSpPr>
        <p:spPr>
          <a:xfrm>
            <a:off x="1095375" y="24384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Rõ bối cảnh.</a:t>
            </a:r>
            <a:endParaRPr/>
          </a:p>
        </p:txBody>
      </p:sp>
      <p:sp>
        <p:nvSpPr>
          <p:cNvPr id="347" name="Google Shape;347;p30"/>
          <p:cNvSpPr txBox="1"/>
          <p:nvPr/>
        </p:nvSpPr>
        <p:spPr>
          <a:xfrm>
            <a:off x="600075" y="29337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3.</a:t>
            </a:r>
            <a:endParaRPr/>
          </a:p>
        </p:txBody>
      </p:sp>
      <p:sp>
        <p:nvSpPr>
          <p:cNvPr id="348" name="Google Shape;348;p30"/>
          <p:cNvSpPr txBox="1"/>
          <p:nvPr/>
        </p:nvSpPr>
        <p:spPr>
          <a:xfrm>
            <a:off x="1095375" y="29337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Rõ đầu ra.</a:t>
            </a:r>
            <a:endParaRPr/>
          </a:p>
        </p:txBody>
      </p:sp>
      <p:sp>
        <p:nvSpPr>
          <p:cNvPr id="349" name="Google Shape;349;p30"/>
          <p:cNvSpPr txBox="1"/>
          <p:nvPr/>
        </p:nvSpPr>
        <p:spPr>
          <a:xfrm>
            <a:off x="600075" y="34290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4.</a:t>
            </a:r>
            <a:endParaRPr/>
          </a:p>
        </p:txBody>
      </p:sp>
      <p:sp>
        <p:nvSpPr>
          <p:cNvPr id="350" name="Google Shape;350;p30"/>
          <p:cNvSpPr txBox="1"/>
          <p:nvPr/>
        </p:nvSpPr>
        <p:spPr>
          <a:xfrm>
            <a:off x="1095375" y="34290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Luôn kiểm tra lại kết quả.</a:t>
            </a:r>
            <a:endParaRPr/>
          </a:p>
        </p:txBody>
      </p:sp>
      <p:sp>
        <p:nvSpPr>
          <p:cNvPr id="351" name="Google Shape;351;p30"/>
          <p:cNvSpPr txBox="1"/>
          <p:nvPr/>
        </p:nvSpPr>
        <p:spPr>
          <a:xfrm>
            <a:off x="600075" y="39243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5.</a:t>
            </a:r>
            <a:endParaRPr/>
          </a:p>
        </p:txBody>
      </p:sp>
      <p:sp>
        <p:nvSpPr>
          <p:cNvPr id="352" name="Google Shape;352;p30"/>
          <p:cNvSpPr txBox="1"/>
          <p:nvPr/>
        </p:nvSpPr>
        <p:spPr>
          <a:xfrm>
            <a:off x="1095375" y="39243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Không đưa dữ liệu nhạy cảm.</a:t>
            </a:r>
            <a:endParaRPr/>
          </a:p>
        </p:txBody>
      </p:sp>
      <p:sp>
        <p:nvSpPr>
          <p:cNvPr id="353" name="Google Shape;353;p30"/>
          <p:cNvSpPr txBox="1"/>
          <p:nvPr/>
        </p:nvSpPr>
        <p:spPr>
          <a:xfrm>
            <a:off x="600075" y="44196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6.</a:t>
            </a:r>
            <a:endParaRPr/>
          </a:p>
        </p:txBody>
      </p:sp>
      <p:sp>
        <p:nvSpPr>
          <p:cNvPr id="354" name="Google Shape;354;p30"/>
          <p:cNvSpPr txBox="1"/>
          <p:nvPr/>
        </p:nvSpPr>
        <p:spPr>
          <a:xfrm>
            <a:off x="1095375" y="44196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D3748"/>
                </a:solidFill>
                <a:latin typeface="Nunito Sans"/>
                <a:ea typeface="Nunito Sans"/>
                <a:cs typeface="Nunito Sans"/>
                <a:sym typeface="Nunito Sans"/>
              </a:rPr>
              <a:t>Dùng AI để tạo nháp (Vượt qua sức ỳ).</a:t>
            </a:r>
            <a:endParaRPr/>
          </a:p>
        </p:txBody>
      </p:sp>
      <p:sp>
        <p:nvSpPr>
          <p:cNvPr id="355" name="Google Shape;355;p30"/>
          <p:cNvSpPr txBox="1"/>
          <p:nvPr/>
        </p:nvSpPr>
        <p:spPr>
          <a:xfrm>
            <a:off x="600075" y="4914900"/>
            <a:ext cx="1619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D3748"/>
                </a:solidFill>
                <a:latin typeface="Nunito Sans"/>
                <a:ea typeface="Nunito Sans"/>
                <a:cs typeface="Nunito Sans"/>
                <a:sym typeface="Nunito Sans"/>
              </a:rPr>
              <a:t>7.</a:t>
            </a:r>
            <a:endParaRPr/>
          </a:p>
        </p:txBody>
      </p:sp>
      <p:sp>
        <p:nvSpPr>
          <p:cNvPr id="356" name="Google Shape;356;p30"/>
          <p:cNvSpPr txBox="1"/>
          <p:nvPr/>
        </p:nvSpPr>
        <p:spPr>
          <a:xfrm>
            <a:off x="1095375" y="4914900"/>
            <a:ext cx="4762500" cy="304800"/>
          </a:xfrm>
          <a:prstGeom prst="rect">
            <a:avLst/>
          </a:prstGeom>
          <a:noFill/>
          <a:ln>
            <a:noFill/>
          </a:ln>
        </p:spPr>
        <p:txBody>
          <a:bodyPr anchorCtr="0" anchor="t" bIns="0" lIns="1619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365D"/>
                </a:solidFill>
                <a:latin typeface="Nunito Sans"/>
                <a:ea typeface="Nunito Sans"/>
                <a:cs typeface="Nunito Sans"/>
                <a:sym typeface="Nunito Sans"/>
              </a:rPr>
              <a:t>Con người là người ra quyết định cuối cùng.</a:t>
            </a:r>
            <a:endParaRPr/>
          </a:p>
        </p:txBody>
      </p:sp>
      <p:pic>
        <p:nvPicPr>
          <p:cNvPr descr="image.png" id="357" name="Google Shape;357;p30"/>
          <p:cNvPicPr preferRelativeResize="0"/>
          <p:nvPr/>
        </p:nvPicPr>
        <p:blipFill rotWithShape="1">
          <a:blip r:embed="rId5">
            <a:alphaModFix/>
          </a:blip>
          <a:srcRect b="0" l="0" r="0" t="0"/>
          <a:stretch/>
        </p:blipFill>
        <p:spPr>
          <a:xfrm>
            <a:off x="6334125" y="1476375"/>
            <a:ext cx="5286375" cy="381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61" name="Shape 361"/>
        <p:cNvGrpSpPr/>
        <p:nvPr/>
      </p:nvGrpSpPr>
      <p:grpSpPr>
        <a:xfrm>
          <a:off x="0" y="0"/>
          <a:ext cx="0" cy="0"/>
          <a:chOff x="0" y="0"/>
          <a:chExt cx="0" cy="0"/>
        </a:xfrm>
      </p:grpSpPr>
      <p:pic>
        <p:nvPicPr>
          <p:cNvPr descr="image.png" id="362" name="Google Shape;36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3" name="Google Shape;363;p31"/>
          <p:cNvSpPr txBox="1"/>
          <p:nvPr/>
        </p:nvSpPr>
        <p:spPr>
          <a:xfrm>
            <a:off x="4020740" y="1988790"/>
            <a:ext cx="4150518"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6000" u="none" cap="none" strike="noStrike">
                <a:solidFill>
                  <a:srgbClr val="FFFFFF"/>
                </a:solidFill>
                <a:latin typeface="Montserrat"/>
                <a:ea typeface="Montserrat"/>
                <a:cs typeface="Montserrat"/>
                <a:sym typeface="Montserrat"/>
              </a:rPr>
              <a:t>Hỏi &amp; Đáp</a:t>
            </a:r>
            <a:endParaRPr/>
          </a:p>
        </p:txBody>
      </p:sp>
      <p:sp>
        <p:nvSpPr>
          <p:cNvPr id="364" name="Google Shape;364;p31"/>
          <p:cNvSpPr txBox="1"/>
          <p:nvPr/>
        </p:nvSpPr>
        <p:spPr>
          <a:xfrm>
            <a:off x="3729037" y="3093690"/>
            <a:ext cx="47339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0"/>
                </a:solidFill>
                <a:latin typeface="Nunito Sans Medium"/>
                <a:ea typeface="Nunito Sans Medium"/>
                <a:cs typeface="Nunito Sans Medium"/>
                <a:sym typeface="Nunito Sans Medium"/>
              </a:rPr>
              <a:t>Hãy chia sẻ bài toán công việc thực tế của bạn!</a:t>
            </a:r>
            <a:endParaRPr/>
          </a:p>
        </p:txBody>
      </p:sp>
      <p:sp>
        <p:nvSpPr>
          <p:cNvPr id="365" name="Google Shape;365;p31"/>
          <p:cNvSpPr txBox="1"/>
          <p:nvPr/>
        </p:nvSpPr>
        <p:spPr>
          <a:xfrm>
            <a:off x="3886200" y="4078485"/>
            <a:ext cx="4419600" cy="647700"/>
          </a:xfrm>
          <a:prstGeom prst="rect">
            <a:avLst/>
          </a:prstGeom>
          <a:noFill/>
          <a:ln>
            <a:noFill/>
          </a:ln>
        </p:spPr>
        <p:txBody>
          <a:bodyPr anchorCtr="0" anchor="t" bIns="0" lIns="381000" spcFirstLastPara="1" rIns="0" wrap="square" tIns="0">
            <a:spAutoFit/>
          </a:bodyPr>
          <a:lstStyle/>
          <a:p>
            <a:pPr indent="0" lvl="0" marL="0" marR="0" rtl="0" algn="ctr">
              <a:lnSpc>
                <a:spcPct val="133333"/>
              </a:lnSpc>
              <a:spcBef>
                <a:spcPts val="0"/>
              </a:spcBef>
              <a:spcAft>
                <a:spcPts val="0"/>
              </a:spcAft>
              <a:buNone/>
            </a:pPr>
            <a:r>
              <a:rPr b="0" i="0" lang="en-US" sz="1500" u="none" cap="none" strike="noStrike">
                <a:solidFill>
                  <a:srgbClr val="FFFFFF"/>
                </a:solidFill>
                <a:latin typeface="Nunito Sans"/>
                <a:ea typeface="Nunito Sans"/>
                <a:cs typeface="Nunito Sans"/>
                <a:sym typeface="Nunito Sans"/>
              </a:rPr>
              <a:t>Quét mã QR trên bàn để nhận tài liệu:</a:t>
            </a:r>
            <a:br>
              <a:rPr b="0" i="0" lang="en-US" sz="1800" u="none" cap="none" strike="noStrike">
                <a:solidFill>
                  <a:schemeClr val="dk1"/>
                </a:solidFill>
                <a:latin typeface="Calibri"/>
                <a:ea typeface="Calibri"/>
                <a:cs typeface="Calibri"/>
                <a:sym typeface="Calibri"/>
              </a:rPr>
            </a:br>
            <a:r>
              <a:rPr b="1" i="0" lang="en-US" sz="1500" u="none" cap="none" strike="noStrike">
                <a:solidFill>
                  <a:srgbClr val="FFFFFF"/>
                </a:solidFill>
                <a:latin typeface="Nunito Sans"/>
                <a:ea typeface="Nunito Sans"/>
                <a:cs typeface="Nunito Sans"/>
                <a:sym typeface="Nunito Sans"/>
              </a:rPr>
              <a:t>Bộ 20 Prompt mẫu &amp; Hướng dẫn tạo Skill cá nhân</a:t>
            </a:r>
            <a:endParaRPr/>
          </a:p>
        </p:txBody>
      </p:sp>
      <p:pic>
        <p:nvPicPr>
          <p:cNvPr descr="image.png" id="366" name="Google Shape;366;p31"/>
          <p:cNvPicPr preferRelativeResize="0"/>
          <p:nvPr/>
        </p:nvPicPr>
        <p:blipFill rotWithShape="1">
          <a:blip r:embed="rId4">
            <a:alphaModFix/>
          </a:blip>
          <a:srcRect b="0" l="0" r="0" t="0"/>
          <a:stretch/>
        </p:blipFill>
        <p:spPr>
          <a:xfrm>
            <a:off x="4271962" y="4078485"/>
            <a:ext cx="285750" cy="285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descr="image.png" id="371" name="Google Shape;371;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2" name="Google Shape;372;p32"/>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Image Sources</a:t>
            </a:r>
            <a:endParaRPr/>
          </a:p>
        </p:txBody>
      </p:sp>
      <p:sp>
        <p:nvSpPr>
          <p:cNvPr id="373" name="Google Shape;373;p32"/>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32"/>
          <p:cNvSpPr/>
          <p:nvPr/>
        </p:nvSpPr>
        <p:spPr>
          <a:xfrm>
            <a:off x="571500" y="1476375"/>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32"/>
          <p:cNvSpPr/>
          <p:nvPr/>
        </p:nvSpPr>
        <p:spPr>
          <a:xfrm>
            <a:off x="571500" y="2261145"/>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32"/>
          <p:cNvSpPr/>
          <p:nvPr/>
        </p:nvSpPr>
        <p:spPr>
          <a:xfrm>
            <a:off x="571500" y="3244006"/>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32"/>
          <p:cNvSpPr/>
          <p:nvPr/>
        </p:nvSpPr>
        <p:spPr>
          <a:xfrm>
            <a:off x="571500" y="4226867"/>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32"/>
          <p:cNvSpPr/>
          <p:nvPr/>
        </p:nvSpPr>
        <p:spPr>
          <a:xfrm>
            <a:off x="571500" y="5011638"/>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32"/>
          <p:cNvSpPr/>
          <p:nvPr/>
        </p:nvSpPr>
        <p:spPr>
          <a:xfrm>
            <a:off x="571500" y="225162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32"/>
          <p:cNvSpPr/>
          <p:nvPr/>
        </p:nvSpPr>
        <p:spPr>
          <a:xfrm>
            <a:off x="571500" y="225162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32"/>
          <p:cNvSpPr/>
          <p:nvPr/>
        </p:nvSpPr>
        <p:spPr>
          <a:xfrm>
            <a:off x="571500" y="3234481"/>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32"/>
          <p:cNvSpPr/>
          <p:nvPr/>
        </p:nvSpPr>
        <p:spPr>
          <a:xfrm>
            <a:off x="571500" y="3234481"/>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32"/>
          <p:cNvSpPr/>
          <p:nvPr/>
        </p:nvSpPr>
        <p:spPr>
          <a:xfrm>
            <a:off x="571500" y="421734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32"/>
          <p:cNvSpPr/>
          <p:nvPr/>
        </p:nvSpPr>
        <p:spPr>
          <a:xfrm>
            <a:off x="571500" y="421734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32"/>
          <p:cNvSpPr/>
          <p:nvPr/>
        </p:nvSpPr>
        <p:spPr>
          <a:xfrm>
            <a:off x="571500" y="500211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32"/>
          <p:cNvSpPr/>
          <p:nvPr/>
        </p:nvSpPr>
        <p:spPr>
          <a:xfrm>
            <a:off x="571500" y="500211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32"/>
          <p:cNvSpPr/>
          <p:nvPr/>
        </p:nvSpPr>
        <p:spPr>
          <a:xfrm>
            <a:off x="571500" y="578688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32"/>
          <p:cNvSpPr/>
          <p:nvPr/>
        </p:nvSpPr>
        <p:spPr>
          <a:xfrm>
            <a:off x="571500" y="578688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89" name="Google Shape;389;p32"/>
          <p:cNvPicPr preferRelativeResize="0"/>
          <p:nvPr/>
        </p:nvPicPr>
        <p:blipFill rotWithShape="1">
          <a:blip r:embed="rId4">
            <a:alphaModFix/>
          </a:blip>
          <a:srcRect b="0" l="0" r="0" t="0"/>
          <a:stretch/>
        </p:blipFill>
        <p:spPr>
          <a:xfrm>
            <a:off x="571500" y="1625798"/>
            <a:ext cx="857250" cy="476250"/>
          </a:xfrm>
          <a:prstGeom prst="rect">
            <a:avLst/>
          </a:prstGeom>
          <a:noFill/>
          <a:ln>
            <a:noFill/>
          </a:ln>
        </p:spPr>
      </p:pic>
      <p:sp>
        <p:nvSpPr>
          <p:cNvPr id="390" name="Google Shape;390;p32"/>
          <p:cNvSpPr txBox="1"/>
          <p:nvPr/>
        </p:nvSpPr>
        <p:spPr>
          <a:xfrm>
            <a:off x="1666875" y="1619250"/>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https://poorvucenter.yale.edu/sites/default/files/2024-12/teaching-frameworks.jpeg</a:t>
            </a:r>
            <a:endParaRPr/>
          </a:p>
        </p:txBody>
      </p:sp>
      <p:sp>
        <p:nvSpPr>
          <p:cNvPr id="391" name="Google Shape;391;p32"/>
          <p:cNvSpPr txBox="1"/>
          <p:nvPr/>
        </p:nvSpPr>
        <p:spPr>
          <a:xfrm>
            <a:off x="1666875" y="1864965"/>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poorvucenter.yale.edu</a:t>
            </a:r>
            <a:endParaRPr/>
          </a:p>
        </p:txBody>
      </p:sp>
      <p:pic>
        <p:nvPicPr>
          <p:cNvPr descr="image.png" id="392" name="Google Shape;392;p32"/>
          <p:cNvPicPr preferRelativeResize="0"/>
          <p:nvPr/>
        </p:nvPicPr>
        <p:blipFill rotWithShape="1">
          <a:blip r:embed="rId5">
            <a:alphaModFix/>
          </a:blip>
          <a:srcRect b="0" l="0" r="0" t="0"/>
          <a:stretch/>
        </p:blipFill>
        <p:spPr>
          <a:xfrm>
            <a:off x="571500" y="2509688"/>
            <a:ext cx="857250" cy="476250"/>
          </a:xfrm>
          <a:prstGeom prst="rect">
            <a:avLst/>
          </a:prstGeom>
          <a:noFill/>
          <a:ln>
            <a:noFill/>
          </a:ln>
        </p:spPr>
      </p:pic>
      <p:sp>
        <p:nvSpPr>
          <p:cNvPr id="393" name="Google Shape;393;p32"/>
          <p:cNvSpPr txBox="1"/>
          <p:nvPr/>
        </p:nvSpPr>
        <p:spPr>
          <a:xfrm>
            <a:off x="1666875" y="2404020"/>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https://bostoninstituteofanalytics.b-cdn.net/wp-content/uploads/2024/11/freepicdownloader.com-artificial-intelligence-unleashes-creativity-robot-engaging-painting-medium_optimized_100-1-edited.jpg</a:t>
            </a:r>
            <a:endParaRPr/>
          </a:p>
        </p:txBody>
      </p:sp>
      <p:sp>
        <p:nvSpPr>
          <p:cNvPr id="394" name="Google Shape;394;p32"/>
          <p:cNvSpPr txBox="1"/>
          <p:nvPr/>
        </p:nvSpPr>
        <p:spPr>
          <a:xfrm>
            <a:off x="1666875" y="2847826"/>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bostoninstituteofanalytics.org</a:t>
            </a:r>
            <a:endParaRPr/>
          </a:p>
        </p:txBody>
      </p:sp>
      <p:pic>
        <p:nvPicPr>
          <p:cNvPr descr="image.png" id="395" name="Google Shape;395;p32"/>
          <p:cNvPicPr preferRelativeResize="0"/>
          <p:nvPr/>
        </p:nvPicPr>
        <p:blipFill rotWithShape="1">
          <a:blip r:embed="rId6">
            <a:alphaModFix/>
          </a:blip>
          <a:srcRect b="0" l="0" r="0" t="0"/>
          <a:stretch/>
        </p:blipFill>
        <p:spPr>
          <a:xfrm>
            <a:off x="571500" y="3492549"/>
            <a:ext cx="857250" cy="476250"/>
          </a:xfrm>
          <a:prstGeom prst="rect">
            <a:avLst/>
          </a:prstGeom>
          <a:noFill/>
          <a:ln>
            <a:noFill/>
          </a:ln>
        </p:spPr>
      </p:pic>
      <p:sp>
        <p:nvSpPr>
          <p:cNvPr id="396" name="Google Shape;396;p32"/>
          <p:cNvSpPr txBox="1"/>
          <p:nvPr/>
        </p:nvSpPr>
        <p:spPr>
          <a:xfrm>
            <a:off x="1666875" y="3386881"/>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https://assets.kontent.ai/0f95ca41-1323-0068-c0ab-105275b8f42c/345629b7-f18b-4e4c-b402-958873606aed/hero-emerging-best-practices%281%29.png?w=1440&amp;q=90&amp;fm=webp&amp;lossless=0&amp;auto=compress</a:t>
            </a:r>
            <a:endParaRPr/>
          </a:p>
        </p:txBody>
      </p:sp>
      <p:sp>
        <p:nvSpPr>
          <p:cNvPr id="397" name="Google Shape;397;p32"/>
          <p:cNvSpPr txBox="1"/>
          <p:nvPr/>
        </p:nvSpPr>
        <p:spPr>
          <a:xfrm>
            <a:off x="1666875" y="383068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kontent.ai</a:t>
            </a:r>
            <a:endParaRPr/>
          </a:p>
        </p:txBody>
      </p:sp>
      <p:pic>
        <p:nvPicPr>
          <p:cNvPr descr="image.png" id="398" name="Google Shape;398;p32"/>
          <p:cNvPicPr preferRelativeResize="0"/>
          <p:nvPr/>
        </p:nvPicPr>
        <p:blipFill rotWithShape="1">
          <a:blip r:embed="rId7">
            <a:alphaModFix/>
          </a:blip>
          <a:srcRect b="0" l="0" r="0" t="0"/>
          <a:stretch/>
        </p:blipFill>
        <p:spPr>
          <a:xfrm>
            <a:off x="571500" y="4376291"/>
            <a:ext cx="857250" cy="476250"/>
          </a:xfrm>
          <a:prstGeom prst="rect">
            <a:avLst/>
          </a:prstGeom>
          <a:noFill/>
          <a:ln>
            <a:noFill/>
          </a:ln>
        </p:spPr>
      </p:pic>
      <p:sp>
        <p:nvSpPr>
          <p:cNvPr id="399" name="Google Shape;399;p32"/>
          <p:cNvSpPr txBox="1"/>
          <p:nvPr/>
        </p:nvSpPr>
        <p:spPr>
          <a:xfrm>
            <a:off x="1666875" y="4369742"/>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https://edutech.global/wp-content/uploads/2026/02/BLOG-65_IMAGE-3-1024x717.jpg</a:t>
            </a:r>
            <a:endParaRPr/>
          </a:p>
        </p:txBody>
      </p:sp>
      <p:sp>
        <p:nvSpPr>
          <p:cNvPr id="400" name="Google Shape;400;p32"/>
          <p:cNvSpPr txBox="1"/>
          <p:nvPr/>
        </p:nvSpPr>
        <p:spPr>
          <a:xfrm>
            <a:off x="1666875" y="461545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edutech.global</a:t>
            </a:r>
            <a:endParaRPr/>
          </a:p>
        </p:txBody>
      </p:sp>
      <p:pic>
        <p:nvPicPr>
          <p:cNvPr descr="image.png" id="401" name="Google Shape;401;p32"/>
          <p:cNvPicPr preferRelativeResize="0"/>
          <p:nvPr/>
        </p:nvPicPr>
        <p:blipFill rotWithShape="1">
          <a:blip r:embed="rId8">
            <a:alphaModFix/>
          </a:blip>
          <a:srcRect b="0" l="0" r="0" t="0"/>
          <a:stretch/>
        </p:blipFill>
        <p:spPr>
          <a:xfrm>
            <a:off x="571500" y="5161061"/>
            <a:ext cx="933450" cy="1066800"/>
          </a:xfrm>
          <a:prstGeom prst="rect">
            <a:avLst/>
          </a:prstGeom>
          <a:noFill/>
          <a:ln>
            <a:noFill/>
          </a:ln>
        </p:spPr>
      </p:pic>
      <p:sp>
        <p:nvSpPr>
          <p:cNvPr id="402" name="Google Shape;402;p32"/>
          <p:cNvSpPr txBox="1"/>
          <p:nvPr/>
        </p:nvSpPr>
        <p:spPr>
          <a:xfrm>
            <a:off x="1666875" y="5154513"/>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https://bridge.edu/tefl/blog/wp-content/uploads/2025/01/Teaching-Smarter-Not-Harder-With-AI-Powered-Content-Creation-featured-image.jpg</a:t>
            </a:r>
            <a:endParaRPr/>
          </a:p>
        </p:txBody>
      </p:sp>
      <p:sp>
        <p:nvSpPr>
          <p:cNvPr id="403" name="Google Shape;403;p32"/>
          <p:cNvSpPr txBox="1"/>
          <p:nvPr/>
        </p:nvSpPr>
        <p:spPr>
          <a:xfrm>
            <a:off x="1666875" y="5400228"/>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bridge.edu</a:t>
            </a:r>
            <a:endParaRPr/>
          </a:p>
        </p:txBody>
      </p:sp>
      <p:pic>
        <p:nvPicPr>
          <p:cNvPr descr="image.png" id="404" name="Google Shape;404;p32"/>
          <p:cNvPicPr preferRelativeResize="0"/>
          <p:nvPr/>
        </p:nvPicPr>
        <p:blipFill rotWithShape="1">
          <a:blip r:embed="rId9">
            <a:alphaModFix/>
          </a:blip>
          <a:srcRect b="0" l="0" r="0" t="0"/>
          <a:stretch/>
        </p:blipFill>
        <p:spPr>
          <a:xfrm>
            <a:off x="571500" y="6044951"/>
            <a:ext cx="857250" cy="476250"/>
          </a:xfrm>
          <a:prstGeom prst="rect">
            <a:avLst/>
          </a:prstGeom>
          <a:noFill/>
          <a:ln>
            <a:noFill/>
          </a:ln>
        </p:spPr>
      </p:pic>
      <p:sp>
        <p:nvSpPr>
          <p:cNvPr id="405" name="Google Shape;405;p32"/>
          <p:cNvSpPr txBox="1"/>
          <p:nvPr/>
        </p:nvSpPr>
        <p:spPr>
          <a:xfrm>
            <a:off x="1666875" y="5939283"/>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https://www.team-bhp.com/forum/attachments/gadgets-computers-software/2879798d1778492449-claude-vs-chatgpt-vs-gemini-vs-others-your-preference-ai-best_ai_tool_in_2026.jpg</a:t>
            </a:r>
            <a:endParaRPr/>
          </a:p>
        </p:txBody>
      </p:sp>
      <p:sp>
        <p:nvSpPr>
          <p:cNvPr id="406" name="Google Shape;406;p32"/>
          <p:cNvSpPr txBox="1"/>
          <p:nvPr/>
        </p:nvSpPr>
        <p:spPr>
          <a:xfrm>
            <a:off x="1666875" y="6383089"/>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www.team-bhp.com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image.png" id="411" name="Google Shape;411;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2" name="Google Shape;412;p33"/>
          <p:cNvSpPr txBox="1"/>
          <p:nvPr/>
        </p:nvSpPr>
        <p:spPr>
          <a:xfrm>
            <a:off x="571500" y="47625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A365D"/>
                </a:solidFill>
                <a:latin typeface="Montserrat"/>
                <a:ea typeface="Montserrat"/>
                <a:cs typeface="Montserrat"/>
                <a:sym typeface="Montserrat"/>
              </a:rPr>
              <a:t>Image Sources</a:t>
            </a:r>
            <a:endParaRPr/>
          </a:p>
        </p:txBody>
      </p:sp>
      <p:sp>
        <p:nvSpPr>
          <p:cNvPr id="413" name="Google Shape;413;p33"/>
          <p:cNvSpPr/>
          <p:nvPr/>
        </p:nvSpPr>
        <p:spPr>
          <a:xfrm>
            <a:off x="571500" y="1066800"/>
            <a:ext cx="11049000" cy="28575"/>
          </a:xfrm>
          <a:prstGeom prst="rect">
            <a:avLst/>
          </a:prstGeom>
          <a:solidFill>
            <a:srgbClr val="2B6C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33"/>
          <p:cNvSpPr/>
          <p:nvPr/>
        </p:nvSpPr>
        <p:spPr>
          <a:xfrm>
            <a:off x="571500" y="3149054"/>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33"/>
          <p:cNvSpPr/>
          <p:nvPr/>
        </p:nvSpPr>
        <p:spPr>
          <a:xfrm>
            <a:off x="571500" y="39243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33"/>
          <p:cNvSpPr/>
          <p:nvPr/>
        </p:nvSpPr>
        <p:spPr>
          <a:xfrm>
            <a:off x="571500" y="39243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7" name="Google Shape;417;p33"/>
          <p:cNvPicPr preferRelativeResize="0"/>
          <p:nvPr/>
        </p:nvPicPr>
        <p:blipFill rotWithShape="1">
          <a:blip r:embed="rId4">
            <a:alphaModFix/>
          </a:blip>
          <a:srcRect b="0" l="0" r="0" t="0"/>
          <a:stretch/>
        </p:blipFill>
        <p:spPr>
          <a:xfrm>
            <a:off x="571500" y="3298477"/>
            <a:ext cx="857250" cy="476250"/>
          </a:xfrm>
          <a:prstGeom prst="rect">
            <a:avLst/>
          </a:prstGeom>
          <a:noFill/>
          <a:ln>
            <a:noFill/>
          </a:ln>
        </p:spPr>
      </p:pic>
      <p:sp>
        <p:nvSpPr>
          <p:cNvPr id="418" name="Google Shape;418;p33"/>
          <p:cNvSpPr txBox="1"/>
          <p:nvPr/>
        </p:nvSpPr>
        <p:spPr>
          <a:xfrm>
            <a:off x="1666875" y="3291929"/>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https://techyreels.com/wp-content/uploads/2026/05/Ai-agent-how-autonomous-AI-taking-task.webp</a:t>
            </a:r>
            <a:endParaRPr/>
          </a:p>
        </p:txBody>
      </p:sp>
      <p:sp>
        <p:nvSpPr>
          <p:cNvPr id="419" name="Google Shape;419;p33"/>
          <p:cNvSpPr txBox="1"/>
          <p:nvPr/>
        </p:nvSpPr>
        <p:spPr>
          <a:xfrm>
            <a:off x="1666875" y="3537644"/>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techyreels.com</a:t>
            </a:r>
            <a:endParaRPr/>
          </a:p>
        </p:txBody>
      </p:sp>
      <p:pic>
        <p:nvPicPr>
          <p:cNvPr descr="image.png" id="420" name="Google Shape;420;p33"/>
          <p:cNvPicPr preferRelativeResize="0"/>
          <p:nvPr/>
        </p:nvPicPr>
        <p:blipFill rotWithShape="1">
          <a:blip r:embed="rId5">
            <a:alphaModFix/>
          </a:blip>
          <a:srcRect b="0" l="0" r="0" t="0"/>
          <a:stretch/>
        </p:blipFill>
        <p:spPr>
          <a:xfrm>
            <a:off x="571500" y="4083248"/>
            <a:ext cx="1162050" cy="914400"/>
          </a:xfrm>
          <a:prstGeom prst="rect">
            <a:avLst/>
          </a:prstGeom>
          <a:noFill/>
          <a:ln>
            <a:noFill/>
          </a:ln>
        </p:spPr>
      </p:pic>
      <p:sp>
        <p:nvSpPr>
          <p:cNvPr id="421" name="Google Shape;421;p33"/>
          <p:cNvSpPr txBox="1"/>
          <p:nvPr/>
        </p:nvSpPr>
        <p:spPr>
          <a:xfrm>
            <a:off x="1666875" y="4076700"/>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2D3748"/>
                </a:solidFill>
                <a:latin typeface="Nunito Sans"/>
                <a:ea typeface="Nunito Sans"/>
                <a:cs typeface="Nunito Sans"/>
                <a:sym typeface="Nunito Sans"/>
              </a:rPr>
              <a:t>http://www.sru.edu//images/news/2020/October/101620a-Inline.jpg</a:t>
            </a:r>
            <a:endParaRPr/>
          </a:p>
        </p:txBody>
      </p:sp>
      <p:sp>
        <p:nvSpPr>
          <p:cNvPr id="422" name="Google Shape;422;p33"/>
          <p:cNvSpPr txBox="1"/>
          <p:nvPr/>
        </p:nvSpPr>
        <p:spPr>
          <a:xfrm>
            <a:off x="1666875" y="4322415"/>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2D3748"/>
                </a:solidFill>
                <a:latin typeface="Nunito Sans"/>
                <a:ea typeface="Nunito Sans"/>
                <a:cs typeface="Nunito Sans"/>
                <a:sym typeface="Nunito Sans"/>
              </a:rPr>
              <a:t>Source: </a:t>
            </a:r>
            <a:r>
              <a:rPr b="0" i="0" lang="en-US" sz="1200" u="none" cap="none" strike="noStrike">
                <a:solidFill>
                  <a:srgbClr val="4F46E5"/>
                </a:solidFill>
                <a:latin typeface="Nunito Sans"/>
                <a:ea typeface="Nunito Sans"/>
                <a:cs typeface="Nunito Sans"/>
                <a:sym typeface="Nunito Sans"/>
              </a:rPr>
              <a:t>www.sru.edu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